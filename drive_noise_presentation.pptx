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HK Modular" charset="1" panose="00000800000000000000"/>
      <p:regular r:id="rId36"/>
    </p:embeddedFont>
    <p:embeddedFont>
      <p:font typeface="Gruppo" charset="1" panose="02000604060000020004"/>
      <p:regular r:id="rId37"/>
    </p:embeddedFont>
    <p:embeddedFont>
      <p:font typeface="Raleway Bold"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12" Target="../media/image15.png" Type="http://schemas.openxmlformats.org/officeDocument/2006/relationships/image"/><Relationship Id="rId13" Target="../media/image16.png" Type="http://schemas.openxmlformats.org/officeDocument/2006/relationships/image"/><Relationship Id="rId14" Target="../media/image1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png" Type="http://schemas.openxmlformats.org/officeDocument/2006/relationships/image"/><Relationship Id="rId12" Target="../media/image44.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154235" y="-723790"/>
            <a:ext cx="3513477" cy="1884501"/>
          </a:xfrm>
          <a:custGeom>
            <a:avLst/>
            <a:gdLst/>
            <a:ahLst/>
            <a:cxnLst/>
            <a:rect r="r" b="b" t="t" l="l"/>
            <a:pathLst>
              <a:path h="1884501" w="3513477">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458515" y="1249975"/>
            <a:ext cx="3799594" cy="678844"/>
          </a:xfrm>
          <a:custGeom>
            <a:avLst/>
            <a:gdLst/>
            <a:ahLst/>
            <a:cxnLst/>
            <a:rect r="r" b="b" t="t" l="l"/>
            <a:pathLst>
              <a:path h="678844" w="3799594">
                <a:moveTo>
                  <a:pt x="0" y="0"/>
                </a:moveTo>
                <a:lnTo>
                  <a:pt x="3799595" y="0"/>
                </a:lnTo>
                <a:lnTo>
                  <a:pt x="3799595" y="678844"/>
                </a:lnTo>
                <a:lnTo>
                  <a:pt x="0" y="6788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7249" y="8933667"/>
            <a:ext cx="3513477" cy="1884501"/>
          </a:xfrm>
          <a:custGeom>
            <a:avLst/>
            <a:gdLst/>
            <a:ahLst/>
            <a:cxnLst/>
            <a:rect r="r" b="b" t="t" l="l"/>
            <a:pathLst>
              <a:path h="1884501" w="3513477">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706146" y="642381"/>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837906" y="2122858"/>
            <a:ext cx="12612187" cy="7135442"/>
          </a:xfrm>
          <a:prstGeom prst="rect">
            <a:avLst/>
          </a:prstGeom>
        </p:spPr>
        <p:txBody>
          <a:bodyPr anchor="t" rtlCol="false" tIns="0" lIns="0" bIns="0" rIns="0">
            <a:spAutoFit/>
          </a:bodyPr>
          <a:lstStyle/>
          <a:p>
            <a:pPr algn="ctr">
              <a:lnSpc>
                <a:spcPts val="11242"/>
              </a:lnSpc>
            </a:pPr>
            <a:r>
              <a:rPr lang="en-US" sz="10314">
                <a:solidFill>
                  <a:srgbClr val="FFFFFF"/>
                </a:solidFill>
                <a:latin typeface="HK Modular"/>
                <a:ea typeface="HK Modular"/>
                <a:cs typeface="HK Modular"/>
                <a:sym typeface="HK Modular"/>
              </a:rPr>
              <a:t>ESTUDO DE RUÍDOS NO DRIVE DO QUBIT COM SIMULAÇÕES</a:t>
            </a:r>
          </a:p>
        </p:txBody>
      </p:sp>
      <p:sp>
        <p:nvSpPr>
          <p:cNvPr name="TextBox 7" id="7"/>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08678" y="3492222"/>
            <a:ext cx="6971111" cy="5228333"/>
          </a:xfrm>
          <a:custGeom>
            <a:avLst/>
            <a:gdLst/>
            <a:ahLst/>
            <a:cxnLst/>
            <a:rect r="r" b="b" t="t" l="l"/>
            <a:pathLst>
              <a:path h="5228333" w="6971111">
                <a:moveTo>
                  <a:pt x="0" y="0"/>
                </a:moveTo>
                <a:lnTo>
                  <a:pt x="6971111" y="0"/>
                </a:lnTo>
                <a:lnTo>
                  <a:pt x="6971111" y="5228333"/>
                </a:lnTo>
                <a:lnTo>
                  <a:pt x="0" y="5228333"/>
                </a:lnTo>
                <a:lnTo>
                  <a:pt x="0" y="0"/>
                </a:lnTo>
                <a:close/>
              </a:path>
            </a:pathLst>
          </a:custGeom>
          <a:blipFill>
            <a:blip r:embed="rId8"/>
            <a:stretch>
              <a:fillRect l="0" t="0" r="0" b="0"/>
            </a:stretch>
          </a:blipFill>
        </p:spPr>
      </p:sp>
      <p:sp>
        <p:nvSpPr>
          <p:cNvPr name="Freeform 7" id="7"/>
          <p:cNvSpPr/>
          <p:nvPr/>
        </p:nvSpPr>
        <p:spPr>
          <a:xfrm flipH="false" flipV="false" rot="0">
            <a:off x="8957346" y="3492222"/>
            <a:ext cx="6365927" cy="5228333"/>
          </a:xfrm>
          <a:custGeom>
            <a:avLst/>
            <a:gdLst/>
            <a:ahLst/>
            <a:cxnLst/>
            <a:rect r="r" b="b" t="t" l="l"/>
            <a:pathLst>
              <a:path h="5228333" w="6365927">
                <a:moveTo>
                  <a:pt x="0" y="0"/>
                </a:moveTo>
                <a:lnTo>
                  <a:pt x="6365927" y="0"/>
                </a:lnTo>
                <a:lnTo>
                  <a:pt x="6365927" y="5228333"/>
                </a:lnTo>
                <a:lnTo>
                  <a:pt x="0" y="5228333"/>
                </a:lnTo>
                <a:lnTo>
                  <a:pt x="0" y="0"/>
                </a:lnTo>
                <a:close/>
              </a:path>
            </a:pathLst>
          </a:custGeom>
          <a:blipFill>
            <a:blip r:embed="rId9"/>
            <a:stretch>
              <a:fillRect l="0" t="0" r="0" b="0"/>
            </a:stretch>
          </a:blipFill>
        </p:spPr>
      </p:sp>
      <p:sp>
        <p:nvSpPr>
          <p:cNvPr name="TextBox 8" id="8"/>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0" id="10"/>
          <p:cNvSpPr txBox="true"/>
          <p:nvPr/>
        </p:nvSpPr>
        <p:spPr>
          <a:xfrm rot="0">
            <a:off x="1408678" y="1853327"/>
            <a:ext cx="8056247" cy="86080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RUÍDO BRANCO</a:t>
            </a:r>
          </a:p>
        </p:txBody>
      </p:sp>
      <p:sp>
        <p:nvSpPr>
          <p:cNvPr name="TextBox 11" id="11"/>
          <p:cNvSpPr txBox="true"/>
          <p:nvPr/>
        </p:nvSpPr>
        <p:spPr>
          <a:xfrm rot="0">
            <a:off x="1408678" y="2924846"/>
            <a:ext cx="6971111"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Domínio do tempo</a:t>
            </a:r>
          </a:p>
        </p:txBody>
      </p:sp>
      <p:sp>
        <p:nvSpPr>
          <p:cNvPr name="TextBox 12" id="12"/>
          <p:cNvSpPr txBox="true"/>
          <p:nvPr/>
        </p:nvSpPr>
        <p:spPr>
          <a:xfrm rot="0">
            <a:off x="8654754" y="2924846"/>
            <a:ext cx="6971111"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Domínio da frequência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140565" y="1872865"/>
            <a:ext cx="8844138" cy="3470330"/>
          </a:xfrm>
          <a:custGeom>
            <a:avLst/>
            <a:gdLst/>
            <a:ahLst/>
            <a:cxnLst/>
            <a:rect r="r" b="b" t="t" l="l"/>
            <a:pathLst>
              <a:path h="3470330" w="8844138">
                <a:moveTo>
                  <a:pt x="0" y="0"/>
                </a:moveTo>
                <a:lnTo>
                  <a:pt x="8844138" y="0"/>
                </a:lnTo>
                <a:lnTo>
                  <a:pt x="8844138" y="3470331"/>
                </a:lnTo>
                <a:lnTo>
                  <a:pt x="0" y="3470331"/>
                </a:lnTo>
                <a:lnTo>
                  <a:pt x="0" y="0"/>
                </a:lnTo>
                <a:close/>
              </a:path>
            </a:pathLst>
          </a:custGeom>
          <a:blipFill>
            <a:blip r:embed="rId8"/>
            <a:stretch>
              <a:fillRect l="-2921" t="0" r="0" b="0"/>
            </a:stretch>
          </a:blipFill>
        </p:spPr>
      </p:sp>
      <p:sp>
        <p:nvSpPr>
          <p:cNvPr name="Freeform 7" id="7"/>
          <p:cNvSpPr/>
          <p:nvPr/>
        </p:nvSpPr>
        <p:spPr>
          <a:xfrm flipH="false" flipV="false" rot="0">
            <a:off x="3254456" y="5467854"/>
            <a:ext cx="8730247" cy="3546663"/>
          </a:xfrm>
          <a:custGeom>
            <a:avLst/>
            <a:gdLst/>
            <a:ahLst/>
            <a:cxnLst/>
            <a:rect r="r" b="b" t="t" l="l"/>
            <a:pathLst>
              <a:path h="3546663" w="8730247">
                <a:moveTo>
                  <a:pt x="0" y="0"/>
                </a:moveTo>
                <a:lnTo>
                  <a:pt x="8730247" y="0"/>
                </a:lnTo>
                <a:lnTo>
                  <a:pt x="8730247" y="3546663"/>
                </a:lnTo>
                <a:lnTo>
                  <a:pt x="0" y="3546663"/>
                </a:lnTo>
                <a:lnTo>
                  <a:pt x="0" y="0"/>
                </a:lnTo>
                <a:close/>
              </a:path>
            </a:pathLst>
          </a:custGeom>
          <a:blipFill>
            <a:blip r:embed="rId9"/>
            <a:stretch>
              <a:fillRect l="0" t="0" r="0" b="0"/>
            </a:stretch>
          </a:blipFill>
        </p:spPr>
      </p:sp>
      <p:sp>
        <p:nvSpPr>
          <p:cNvPr name="Freeform 8" id="8"/>
          <p:cNvSpPr/>
          <p:nvPr/>
        </p:nvSpPr>
        <p:spPr>
          <a:xfrm flipH="false" flipV="false" rot="0">
            <a:off x="12155937" y="2013339"/>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2155937" y="5862401"/>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1" id="11"/>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2" id="12"/>
          <p:cNvSpPr txBox="true"/>
          <p:nvPr/>
        </p:nvSpPr>
        <p:spPr>
          <a:xfrm rot="0">
            <a:off x="4505059" y="427063"/>
            <a:ext cx="12049585" cy="86080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EFEITOS NO QUBIT</a:t>
            </a:r>
          </a:p>
        </p:txBody>
      </p:sp>
      <p:sp>
        <p:nvSpPr>
          <p:cNvPr name="TextBox 13" id="13"/>
          <p:cNvSpPr txBox="true"/>
          <p:nvPr/>
        </p:nvSpPr>
        <p:spPr>
          <a:xfrm rot="0">
            <a:off x="12604519" y="2572188"/>
            <a:ext cx="2254952" cy="1871132"/>
          </a:xfrm>
          <a:prstGeom prst="rect">
            <a:avLst/>
          </a:prstGeom>
        </p:spPr>
        <p:txBody>
          <a:bodyPr anchor="t" rtlCol="false" tIns="0" lIns="0" bIns="0" rIns="0">
            <a:spAutoFit/>
          </a:bodyPr>
          <a:lstStyle/>
          <a:p>
            <a:pPr algn="ctr">
              <a:lnSpc>
                <a:spcPts val="2999"/>
              </a:lnSpc>
            </a:pPr>
            <a:r>
              <a:rPr lang="en-US" sz="2777" b="true">
                <a:solidFill>
                  <a:srgbClr val="FFFFFF"/>
                </a:solidFill>
                <a:latin typeface="Raleway Bold"/>
                <a:ea typeface="Raleway Bold"/>
                <a:cs typeface="Raleway Bold"/>
                <a:sym typeface="Raleway Bold"/>
              </a:rPr>
              <a:t>amplitude:</a:t>
            </a:r>
          </a:p>
          <a:p>
            <a:pPr algn="ctr">
              <a:lnSpc>
                <a:spcPts val="2999"/>
              </a:lnSpc>
              <a:spcBef>
                <a:spcPct val="0"/>
              </a:spcBef>
            </a:pPr>
            <a:r>
              <a:rPr lang="en-US" b="true" sz="2777">
                <a:solidFill>
                  <a:srgbClr val="FFFFFF"/>
                </a:solidFill>
                <a:latin typeface="Raleway Bold"/>
                <a:ea typeface="Raleway Bold"/>
                <a:cs typeface="Raleway Bold"/>
                <a:sym typeface="Raleway Bold"/>
              </a:rPr>
              <a:t>desvio equivalente pulso pi de 500ns</a:t>
            </a:r>
          </a:p>
        </p:txBody>
      </p:sp>
      <p:sp>
        <p:nvSpPr>
          <p:cNvPr name="TextBox 14" id="14"/>
          <p:cNvSpPr txBox="true"/>
          <p:nvPr/>
        </p:nvSpPr>
        <p:spPr>
          <a:xfrm rot="0">
            <a:off x="12604519" y="6888655"/>
            <a:ext cx="2254952" cy="1128182"/>
          </a:xfrm>
          <a:prstGeom prst="rect">
            <a:avLst/>
          </a:prstGeom>
        </p:spPr>
        <p:txBody>
          <a:bodyPr anchor="t" rtlCol="false" tIns="0" lIns="0" bIns="0" rIns="0">
            <a:spAutoFit/>
          </a:bodyPr>
          <a:lstStyle/>
          <a:p>
            <a:pPr algn="ctr">
              <a:lnSpc>
                <a:spcPts val="2999"/>
              </a:lnSpc>
            </a:pPr>
            <a:r>
              <a:rPr lang="en-US" sz="2777" b="true">
                <a:solidFill>
                  <a:srgbClr val="FFFFFF"/>
                </a:solidFill>
                <a:latin typeface="Raleway Bold"/>
                <a:ea typeface="Raleway Bold"/>
                <a:cs typeface="Raleway Bold"/>
                <a:sym typeface="Raleway Bold"/>
              </a:rPr>
              <a:t>amplitude:</a:t>
            </a:r>
          </a:p>
          <a:p>
            <a:pPr algn="ctr">
              <a:lnSpc>
                <a:spcPts val="2999"/>
              </a:lnSpc>
              <a:spcBef>
                <a:spcPct val="0"/>
              </a:spcBef>
            </a:pPr>
            <a:r>
              <a:rPr lang="en-US" b="true" sz="2777">
                <a:solidFill>
                  <a:srgbClr val="FFFFFF"/>
                </a:solidFill>
                <a:latin typeface="Raleway Bold"/>
                <a:ea typeface="Raleway Bold"/>
                <a:cs typeface="Raleway Bold"/>
                <a:sym typeface="Raleway Bold"/>
              </a:rPr>
              <a:t>pulso pi de 2.5ns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30047" y="1662535"/>
            <a:ext cx="4427440" cy="4427440"/>
          </a:xfrm>
          <a:custGeom>
            <a:avLst/>
            <a:gdLst/>
            <a:ahLst/>
            <a:cxnLst/>
            <a:rect r="r" b="b" t="t" l="l"/>
            <a:pathLst>
              <a:path h="4427440" w="4427440">
                <a:moveTo>
                  <a:pt x="0" y="0"/>
                </a:moveTo>
                <a:lnTo>
                  <a:pt x="4427440" y="0"/>
                </a:lnTo>
                <a:lnTo>
                  <a:pt x="4427440" y="4427440"/>
                </a:lnTo>
                <a:lnTo>
                  <a:pt x="0" y="4427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084189" y="2448953"/>
            <a:ext cx="3663246" cy="2854604"/>
          </a:xfrm>
          <a:custGeom>
            <a:avLst/>
            <a:gdLst/>
            <a:ahLst/>
            <a:cxnLst/>
            <a:rect r="r" b="b" t="t" l="l"/>
            <a:pathLst>
              <a:path h="2854604" w="3663246">
                <a:moveTo>
                  <a:pt x="0" y="0"/>
                </a:moveTo>
                <a:lnTo>
                  <a:pt x="3663246" y="0"/>
                </a:lnTo>
                <a:lnTo>
                  <a:pt x="3663246" y="2854604"/>
                </a:lnTo>
                <a:lnTo>
                  <a:pt x="0" y="2854604"/>
                </a:lnTo>
                <a:lnTo>
                  <a:pt x="0" y="0"/>
                </a:lnTo>
                <a:close/>
              </a:path>
            </a:pathLst>
          </a:custGeom>
          <a:blipFill>
            <a:blip r:embed="rId10"/>
            <a:stretch>
              <a:fillRect l="0" t="0" r="0" b="0"/>
            </a:stretch>
          </a:blipFill>
        </p:spPr>
      </p:sp>
      <p:sp>
        <p:nvSpPr>
          <p:cNvPr name="Freeform 8" id="8"/>
          <p:cNvSpPr/>
          <p:nvPr/>
        </p:nvSpPr>
        <p:spPr>
          <a:xfrm flipH="false" flipV="false" rot="0">
            <a:off x="11738545" y="6705233"/>
            <a:ext cx="5183633" cy="3272168"/>
          </a:xfrm>
          <a:custGeom>
            <a:avLst/>
            <a:gdLst/>
            <a:ahLst/>
            <a:cxnLst/>
            <a:rect r="r" b="b" t="t" l="l"/>
            <a:pathLst>
              <a:path h="3272168" w="5183633">
                <a:moveTo>
                  <a:pt x="0" y="0"/>
                </a:moveTo>
                <a:lnTo>
                  <a:pt x="5183632" y="0"/>
                </a:lnTo>
                <a:lnTo>
                  <a:pt x="5183632" y="3272169"/>
                </a:lnTo>
                <a:lnTo>
                  <a:pt x="0" y="3272169"/>
                </a:lnTo>
                <a:lnTo>
                  <a:pt x="0" y="0"/>
                </a:lnTo>
                <a:close/>
              </a:path>
            </a:pathLst>
          </a:custGeom>
          <a:blipFill>
            <a:blip r:embed="rId11"/>
            <a:stretch>
              <a:fillRect l="0" t="0" r="0" b="0"/>
            </a:stretch>
          </a:blipFill>
        </p:spPr>
      </p:sp>
      <p:sp>
        <p:nvSpPr>
          <p:cNvPr name="Freeform 9" id="9"/>
          <p:cNvSpPr/>
          <p:nvPr/>
        </p:nvSpPr>
        <p:spPr>
          <a:xfrm flipH="false" flipV="false" rot="0">
            <a:off x="5471335" y="1983476"/>
            <a:ext cx="5783491" cy="3785558"/>
          </a:xfrm>
          <a:custGeom>
            <a:avLst/>
            <a:gdLst/>
            <a:ahLst/>
            <a:cxnLst/>
            <a:rect r="r" b="b" t="t" l="l"/>
            <a:pathLst>
              <a:path h="3785558" w="5783491">
                <a:moveTo>
                  <a:pt x="0" y="0"/>
                </a:moveTo>
                <a:lnTo>
                  <a:pt x="5783491" y="0"/>
                </a:lnTo>
                <a:lnTo>
                  <a:pt x="5783491" y="3785558"/>
                </a:lnTo>
                <a:lnTo>
                  <a:pt x="0" y="3785558"/>
                </a:lnTo>
                <a:lnTo>
                  <a:pt x="0" y="0"/>
                </a:lnTo>
                <a:close/>
              </a:path>
            </a:pathLst>
          </a:custGeom>
          <a:blipFill>
            <a:blip r:embed="rId12"/>
            <a:stretch>
              <a:fillRect l="0" t="0" r="0" b="0"/>
            </a:stretch>
          </a:blipFill>
        </p:spPr>
      </p:sp>
      <p:sp>
        <p:nvSpPr>
          <p:cNvPr name="Freeform 10" id="10"/>
          <p:cNvSpPr/>
          <p:nvPr/>
        </p:nvSpPr>
        <p:spPr>
          <a:xfrm flipH="false" flipV="false" rot="0">
            <a:off x="11978485" y="1983476"/>
            <a:ext cx="3601597" cy="3679793"/>
          </a:xfrm>
          <a:custGeom>
            <a:avLst/>
            <a:gdLst/>
            <a:ahLst/>
            <a:cxnLst/>
            <a:rect r="r" b="b" t="t" l="l"/>
            <a:pathLst>
              <a:path h="3679793" w="3601597">
                <a:moveTo>
                  <a:pt x="0" y="0"/>
                </a:moveTo>
                <a:lnTo>
                  <a:pt x="3601598" y="0"/>
                </a:lnTo>
                <a:lnTo>
                  <a:pt x="3601598" y="3679793"/>
                </a:lnTo>
                <a:lnTo>
                  <a:pt x="0" y="3679793"/>
                </a:lnTo>
                <a:lnTo>
                  <a:pt x="0" y="0"/>
                </a:lnTo>
                <a:close/>
              </a:path>
            </a:pathLst>
          </a:custGeom>
          <a:blipFill>
            <a:blip r:embed="rId13"/>
            <a:stretch>
              <a:fillRect l="0" t="0" r="0" b="0"/>
            </a:stretch>
          </a:blipFill>
        </p:spPr>
      </p:sp>
      <p:sp>
        <p:nvSpPr>
          <p:cNvPr name="TextBox 11" id="11"/>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2" id="12"/>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3" id="13"/>
          <p:cNvSpPr txBox="true"/>
          <p:nvPr/>
        </p:nvSpPr>
        <p:spPr>
          <a:xfrm rot="0">
            <a:off x="4505059" y="427063"/>
            <a:ext cx="12049585" cy="86080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ANDAR DO BÊBADO</a:t>
            </a:r>
          </a:p>
        </p:txBody>
      </p:sp>
      <p:sp>
        <p:nvSpPr>
          <p:cNvPr name="Freeform 14" id="14"/>
          <p:cNvSpPr/>
          <p:nvPr/>
        </p:nvSpPr>
        <p:spPr>
          <a:xfrm flipH="false" flipV="false" rot="0">
            <a:off x="5167670" y="6705233"/>
            <a:ext cx="6284471" cy="2553067"/>
          </a:xfrm>
          <a:custGeom>
            <a:avLst/>
            <a:gdLst/>
            <a:ahLst/>
            <a:cxnLst/>
            <a:rect r="r" b="b" t="t" l="l"/>
            <a:pathLst>
              <a:path h="2553067" w="6284471">
                <a:moveTo>
                  <a:pt x="0" y="0"/>
                </a:moveTo>
                <a:lnTo>
                  <a:pt x="6284472" y="0"/>
                </a:lnTo>
                <a:lnTo>
                  <a:pt x="6284472" y="2553067"/>
                </a:lnTo>
                <a:lnTo>
                  <a:pt x="0" y="2553067"/>
                </a:lnTo>
                <a:lnTo>
                  <a:pt x="0" y="0"/>
                </a:lnTo>
                <a:close/>
              </a:path>
            </a:pathLst>
          </a:custGeom>
          <a:blipFill>
            <a:blip r:embed="rId14"/>
            <a:stretch>
              <a:fillRect l="0" t="0" r="0" b="0"/>
            </a:stretch>
          </a:blipFill>
        </p:spPr>
      </p:sp>
      <p:sp>
        <p:nvSpPr>
          <p:cNvPr name="TextBox 15" id="15"/>
          <p:cNvSpPr txBox="true"/>
          <p:nvPr/>
        </p:nvSpPr>
        <p:spPr>
          <a:xfrm rot="0">
            <a:off x="12332259" y="1492282"/>
            <a:ext cx="2894049"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Correlograma</a:t>
            </a:r>
          </a:p>
        </p:txBody>
      </p:sp>
      <p:sp>
        <p:nvSpPr>
          <p:cNvPr name="TextBox 16" id="16"/>
          <p:cNvSpPr txBox="true"/>
          <p:nvPr/>
        </p:nvSpPr>
        <p:spPr>
          <a:xfrm rot="0">
            <a:off x="5417009" y="6219276"/>
            <a:ext cx="578579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Qubit</a:t>
            </a:r>
          </a:p>
        </p:txBody>
      </p:sp>
      <p:sp>
        <p:nvSpPr>
          <p:cNvPr name="TextBox 17" id="17"/>
          <p:cNvSpPr txBox="true"/>
          <p:nvPr/>
        </p:nvSpPr>
        <p:spPr>
          <a:xfrm rot="0">
            <a:off x="5471335" y="1563523"/>
            <a:ext cx="5969491"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Andar do bêbado/ruído browniano</a:t>
            </a:r>
          </a:p>
        </p:txBody>
      </p:sp>
      <p:sp>
        <p:nvSpPr>
          <p:cNvPr name="TextBox 18" id="18"/>
          <p:cNvSpPr txBox="true"/>
          <p:nvPr/>
        </p:nvSpPr>
        <p:spPr>
          <a:xfrm rot="0">
            <a:off x="11556187" y="6219276"/>
            <a:ext cx="578579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Correlograma Qubit</a:t>
            </a:r>
          </a:p>
        </p:txBody>
      </p:sp>
      <p:sp>
        <p:nvSpPr>
          <p:cNvPr name="TextBox 19" id="19"/>
          <p:cNvSpPr txBox="true"/>
          <p:nvPr/>
        </p:nvSpPr>
        <p:spPr>
          <a:xfrm rot="0">
            <a:off x="630047" y="7323245"/>
            <a:ext cx="4019126" cy="1018073"/>
          </a:xfrm>
          <a:prstGeom prst="rect">
            <a:avLst/>
          </a:prstGeom>
        </p:spPr>
        <p:txBody>
          <a:bodyPr anchor="t" rtlCol="false" tIns="0" lIns="0" bIns="0" rIns="0">
            <a:spAutoFit/>
          </a:bodyPr>
          <a:lstStyle/>
          <a:p>
            <a:pPr algn="ctr">
              <a:lnSpc>
                <a:spcPts val="3971"/>
              </a:lnSpc>
            </a:pPr>
            <a:r>
              <a:rPr lang="en-US" sz="3677" b="true">
                <a:solidFill>
                  <a:srgbClr val="FFFFFF"/>
                </a:solidFill>
                <a:latin typeface="Raleway Bold"/>
                <a:ea typeface="Raleway Bold"/>
                <a:cs typeface="Raleway Bold"/>
                <a:sym typeface="Raleway Bold"/>
              </a:rPr>
              <a:t>Ruído browniano=</a:t>
            </a:r>
          </a:p>
          <a:p>
            <a:pPr algn="ctr">
              <a:lnSpc>
                <a:spcPts val="3971"/>
              </a:lnSpc>
              <a:spcBef>
                <a:spcPct val="0"/>
              </a:spcBef>
            </a:pPr>
            <a:r>
              <a:rPr lang="en-US" b="true" sz="3677">
                <a:solidFill>
                  <a:srgbClr val="FFFFFF"/>
                </a:solidFill>
                <a:latin typeface="Raleway Bold"/>
                <a:ea typeface="Raleway Bold"/>
                <a:cs typeface="Raleway Bold"/>
                <a:sym typeface="Raleway Bold"/>
              </a:rPr>
              <a:t>∫ Ruído Branco dt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3600694" y="4580959"/>
            <a:ext cx="11833983" cy="2444176"/>
            <a:chOff x="0" y="0"/>
            <a:chExt cx="1833394" cy="378667"/>
          </a:xfrm>
        </p:grpSpPr>
        <p:sp>
          <p:nvSpPr>
            <p:cNvPr name="Freeform 7" id="7"/>
            <p:cNvSpPr/>
            <p:nvPr/>
          </p:nvSpPr>
          <p:spPr>
            <a:xfrm flipH="false" flipV="false" rot="0">
              <a:off x="0" y="0"/>
              <a:ext cx="1833394" cy="378667"/>
            </a:xfrm>
            <a:custGeom>
              <a:avLst/>
              <a:gdLst/>
              <a:ahLst/>
              <a:cxnLst/>
              <a:rect r="r" b="b" t="t" l="l"/>
              <a:pathLst>
                <a:path h="378667" w="1833394">
                  <a:moveTo>
                    <a:pt x="15047" y="0"/>
                  </a:moveTo>
                  <a:lnTo>
                    <a:pt x="1818347" y="0"/>
                  </a:lnTo>
                  <a:cubicBezTo>
                    <a:pt x="1826657" y="0"/>
                    <a:pt x="1833394" y="6737"/>
                    <a:pt x="1833394" y="15047"/>
                  </a:cubicBezTo>
                  <a:lnTo>
                    <a:pt x="1833394" y="363620"/>
                  </a:lnTo>
                  <a:cubicBezTo>
                    <a:pt x="1833394" y="367611"/>
                    <a:pt x="1831808" y="371438"/>
                    <a:pt x="1828987" y="374260"/>
                  </a:cubicBezTo>
                  <a:cubicBezTo>
                    <a:pt x="1826165" y="377082"/>
                    <a:pt x="1822338" y="378667"/>
                    <a:pt x="1818347" y="378667"/>
                  </a:cubicBezTo>
                  <a:lnTo>
                    <a:pt x="15047" y="378667"/>
                  </a:lnTo>
                  <a:cubicBezTo>
                    <a:pt x="11056" y="378667"/>
                    <a:pt x="7229" y="377082"/>
                    <a:pt x="4407" y="374260"/>
                  </a:cubicBezTo>
                  <a:cubicBezTo>
                    <a:pt x="1585" y="371438"/>
                    <a:pt x="0" y="367611"/>
                    <a:pt x="0" y="363620"/>
                  </a:cubicBezTo>
                  <a:lnTo>
                    <a:pt x="0" y="15047"/>
                  </a:lnTo>
                  <a:cubicBezTo>
                    <a:pt x="0" y="11056"/>
                    <a:pt x="1585" y="7229"/>
                    <a:pt x="4407" y="4407"/>
                  </a:cubicBezTo>
                  <a:cubicBezTo>
                    <a:pt x="7229" y="1585"/>
                    <a:pt x="11056" y="0"/>
                    <a:pt x="15047" y="0"/>
                  </a:cubicBezTo>
                  <a:close/>
                </a:path>
              </a:pathLst>
            </a:custGeom>
            <a:blipFill>
              <a:blip r:embed="rId8"/>
              <a:stretch>
                <a:fillRect l="0" t="-86172" r="0" b="-86172"/>
              </a:stretch>
            </a:blipFill>
            <a:ln w="38100" cap="rnd">
              <a:solidFill>
                <a:srgbClr val="9FCDFF"/>
              </a:solidFill>
              <a:prstDash val="solid"/>
              <a:round/>
            </a:ln>
          </p:spPr>
        </p:sp>
      </p:grpSp>
      <p:sp>
        <p:nvSpPr>
          <p:cNvPr name="TextBox 8" id="8"/>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10" id="10"/>
          <p:cNvSpPr txBox="true"/>
          <p:nvPr/>
        </p:nvSpPr>
        <p:spPr>
          <a:xfrm rot="0">
            <a:off x="4003523" y="2235401"/>
            <a:ext cx="11028326" cy="1730042"/>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AGORA COM O SIGNAL DE EXCITAÇÃO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7284" y="9403778"/>
            <a:ext cx="2728988" cy="487567"/>
          </a:xfrm>
          <a:custGeom>
            <a:avLst/>
            <a:gdLst/>
            <a:ahLst/>
            <a:cxnLst/>
            <a:rect r="r" b="b" t="t" l="l"/>
            <a:pathLst>
              <a:path h="487567" w="2728988">
                <a:moveTo>
                  <a:pt x="0" y="0"/>
                </a:moveTo>
                <a:lnTo>
                  <a:pt x="2728988" y="0"/>
                </a:lnTo>
                <a:lnTo>
                  <a:pt x="2728988" y="487567"/>
                </a:lnTo>
                <a:lnTo>
                  <a:pt x="0" y="4875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652937" y="2500906"/>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652937" y="6349967"/>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655994" y="2189994"/>
            <a:ext cx="4876242" cy="3722635"/>
          </a:xfrm>
          <a:custGeom>
            <a:avLst/>
            <a:gdLst/>
            <a:ahLst/>
            <a:cxnLst/>
            <a:rect r="r" b="b" t="t" l="l"/>
            <a:pathLst>
              <a:path h="3722635" w="4876242">
                <a:moveTo>
                  <a:pt x="0" y="0"/>
                </a:moveTo>
                <a:lnTo>
                  <a:pt x="4876242" y="0"/>
                </a:lnTo>
                <a:lnTo>
                  <a:pt x="4876242" y="3722635"/>
                </a:lnTo>
                <a:lnTo>
                  <a:pt x="0" y="3722635"/>
                </a:lnTo>
                <a:lnTo>
                  <a:pt x="0" y="0"/>
                </a:lnTo>
                <a:close/>
              </a:path>
            </a:pathLst>
          </a:custGeom>
          <a:blipFill>
            <a:blip r:embed="rId10"/>
            <a:stretch>
              <a:fillRect l="0" t="0" r="0" b="0"/>
            </a:stretch>
          </a:blipFill>
        </p:spPr>
      </p:sp>
      <p:sp>
        <p:nvSpPr>
          <p:cNvPr name="Freeform 9" id="9"/>
          <p:cNvSpPr/>
          <p:nvPr/>
        </p:nvSpPr>
        <p:spPr>
          <a:xfrm flipH="false" flipV="false" rot="0">
            <a:off x="7664456" y="2244354"/>
            <a:ext cx="4672148" cy="3665220"/>
          </a:xfrm>
          <a:custGeom>
            <a:avLst/>
            <a:gdLst/>
            <a:ahLst/>
            <a:cxnLst/>
            <a:rect r="r" b="b" t="t" l="l"/>
            <a:pathLst>
              <a:path h="3665220" w="4672148">
                <a:moveTo>
                  <a:pt x="0" y="0"/>
                </a:moveTo>
                <a:lnTo>
                  <a:pt x="4672148" y="0"/>
                </a:lnTo>
                <a:lnTo>
                  <a:pt x="4672148" y="3665220"/>
                </a:lnTo>
                <a:lnTo>
                  <a:pt x="0" y="3665220"/>
                </a:lnTo>
                <a:lnTo>
                  <a:pt x="0" y="0"/>
                </a:lnTo>
                <a:close/>
              </a:path>
            </a:pathLst>
          </a:custGeom>
          <a:blipFill>
            <a:blip r:embed="rId11"/>
            <a:stretch>
              <a:fillRect l="0" t="0" r="0" b="0"/>
            </a:stretch>
          </a:blipFill>
        </p:spPr>
      </p:sp>
      <p:sp>
        <p:nvSpPr>
          <p:cNvPr name="Freeform 10" id="10"/>
          <p:cNvSpPr/>
          <p:nvPr/>
        </p:nvSpPr>
        <p:spPr>
          <a:xfrm flipH="false" flipV="false" rot="0">
            <a:off x="3152994" y="6007879"/>
            <a:ext cx="8256086" cy="3395899"/>
          </a:xfrm>
          <a:custGeom>
            <a:avLst/>
            <a:gdLst/>
            <a:ahLst/>
            <a:cxnLst/>
            <a:rect r="r" b="b" t="t" l="l"/>
            <a:pathLst>
              <a:path h="3395899" w="8256086">
                <a:moveTo>
                  <a:pt x="0" y="0"/>
                </a:moveTo>
                <a:lnTo>
                  <a:pt x="8256085" y="0"/>
                </a:lnTo>
                <a:lnTo>
                  <a:pt x="8256085" y="3395899"/>
                </a:lnTo>
                <a:lnTo>
                  <a:pt x="0" y="3395899"/>
                </a:lnTo>
                <a:lnTo>
                  <a:pt x="0" y="0"/>
                </a:lnTo>
                <a:close/>
              </a:path>
            </a:pathLst>
          </a:custGeom>
          <a:blipFill>
            <a:blip r:embed="rId12"/>
            <a:stretch>
              <a:fillRect l="0" t="0" r="0" b="0"/>
            </a:stretch>
          </a:blipFill>
        </p:spPr>
      </p:sp>
      <p:sp>
        <p:nvSpPr>
          <p:cNvPr name="TextBox 11" id="11"/>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2" id="12"/>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3" id="13"/>
          <p:cNvSpPr txBox="true"/>
          <p:nvPr/>
        </p:nvSpPr>
        <p:spPr>
          <a:xfrm rot="0">
            <a:off x="5931913" y="203007"/>
            <a:ext cx="7650153" cy="172511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PULSO PI 50NS + 10% RUÍDO</a:t>
            </a:r>
          </a:p>
        </p:txBody>
      </p:sp>
      <p:sp>
        <p:nvSpPr>
          <p:cNvPr name="TextBox 14" id="14"/>
          <p:cNvSpPr txBox="true"/>
          <p:nvPr/>
        </p:nvSpPr>
        <p:spPr>
          <a:xfrm rot="0">
            <a:off x="13101519" y="3712898"/>
            <a:ext cx="2254952"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Sinal do drive</a:t>
            </a:r>
          </a:p>
        </p:txBody>
      </p:sp>
      <p:sp>
        <p:nvSpPr>
          <p:cNvPr name="TextBox 15" id="15"/>
          <p:cNvSpPr txBox="true"/>
          <p:nvPr/>
        </p:nvSpPr>
        <p:spPr>
          <a:xfrm rot="0">
            <a:off x="13101519" y="7561959"/>
            <a:ext cx="2254952"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Oscilação de Rabi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11577" y="9474903"/>
            <a:ext cx="2728988" cy="487567"/>
          </a:xfrm>
          <a:custGeom>
            <a:avLst/>
            <a:gdLst/>
            <a:ahLst/>
            <a:cxnLst/>
            <a:rect r="r" b="b" t="t" l="l"/>
            <a:pathLst>
              <a:path h="487567" w="2728988">
                <a:moveTo>
                  <a:pt x="0" y="0"/>
                </a:moveTo>
                <a:lnTo>
                  <a:pt x="2728988" y="0"/>
                </a:lnTo>
                <a:lnTo>
                  <a:pt x="2728988" y="487567"/>
                </a:lnTo>
                <a:lnTo>
                  <a:pt x="0" y="4875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847771" y="2717509"/>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2847771" y="6566570"/>
            <a:ext cx="3152116" cy="3152116"/>
          </a:xfrm>
          <a:custGeom>
            <a:avLst/>
            <a:gdLst/>
            <a:ahLst/>
            <a:cxnLst/>
            <a:rect r="r" b="b" t="t" l="l"/>
            <a:pathLst>
              <a:path h="3152116" w="3152116">
                <a:moveTo>
                  <a:pt x="0" y="0"/>
                </a:moveTo>
                <a:lnTo>
                  <a:pt x="3152116" y="0"/>
                </a:lnTo>
                <a:lnTo>
                  <a:pt x="3152116" y="3152116"/>
                </a:lnTo>
                <a:lnTo>
                  <a:pt x="0" y="31521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743612" y="2497666"/>
            <a:ext cx="4568771" cy="3541382"/>
          </a:xfrm>
          <a:custGeom>
            <a:avLst/>
            <a:gdLst/>
            <a:ahLst/>
            <a:cxnLst/>
            <a:rect r="r" b="b" t="t" l="l"/>
            <a:pathLst>
              <a:path h="3541382" w="4568771">
                <a:moveTo>
                  <a:pt x="0" y="0"/>
                </a:moveTo>
                <a:lnTo>
                  <a:pt x="4568771" y="0"/>
                </a:lnTo>
                <a:lnTo>
                  <a:pt x="4568771" y="3541382"/>
                </a:lnTo>
                <a:lnTo>
                  <a:pt x="0" y="3541382"/>
                </a:lnTo>
                <a:lnTo>
                  <a:pt x="0" y="0"/>
                </a:lnTo>
                <a:close/>
              </a:path>
            </a:pathLst>
          </a:custGeom>
          <a:blipFill>
            <a:blip r:embed="rId10"/>
            <a:stretch>
              <a:fillRect l="0" t="0" r="0" b="0"/>
            </a:stretch>
          </a:blipFill>
        </p:spPr>
      </p:sp>
      <p:sp>
        <p:nvSpPr>
          <p:cNvPr name="Freeform 9" id="9"/>
          <p:cNvSpPr/>
          <p:nvPr/>
        </p:nvSpPr>
        <p:spPr>
          <a:xfrm flipH="false" flipV="false" rot="0">
            <a:off x="7578690" y="2497666"/>
            <a:ext cx="4514289" cy="3541382"/>
          </a:xfrm>
          <a:custGeom>
            <a:avLst/>
            <a:gdLst/>
            <a:ahLst/>
            <a:cxnLst/>
            <a:rect r="r" b="b" t="t" l="l"/>
            <a:pathLst>
              <a:path h="3541382" w="4514289">
                <a:moveTo>
                  <a:pt x="0" y="0"/>
                </a:moveTo>
                <a:lnTo>
                  <a:pt x="4514288" y="0"/>
                </a:lnTo>
                <a:lnTo>
                  <a:pt x="4514288" y="3541382"/>
                </a:lnTo>
                <a:lnTo>
                  <a:pt x="0" y="3541382"/>
                </a:lnTo>
                <a:lnTo>
                  <a:pt x="0" y="0"/>
                </a:lnTo>
                <a:close/>
              </a:path>
            </a:pathLst>
          </a:custGeom>
          <a:blipFill>
            <a:blip r:embed="rId11"/>
            <a:stretch>
              <a:fillRect l="0" t="0" r="0" b="0"/>
            </a:stretch>
          </a:blipFill>
        </p:spPr>
      </p:sp>
      <p:sp>
        <p:nvSpPr>
          <p:cNvPr name="Freeform 10" id="10"/>
          <p:cNvSpPr/>
          <p:nvPr/>
        </p:nvSpPr>
        <p:spPr>
          <a:xfrm flipH="false" flipV="false" rot="0">
            <a:off x="3347828" y="6192925"/>
            <a:ext cx="8172382" cy="3256586"/>
          </a:xfrm>
          <a:custGeom>
            <a:avLst/>
            <a:gdLst/>
            <a:ahLst/>
            <a:cxnLst/>
            <a:rect r="r" b="b" t="t" l="l"/>
            <a:pathLst>
              <a:path h="3256586" w="8172382">
                <a:moveTo>
                  <a:pt x="0" y="0"/>
                </a:moveTo>
                <a:lnTo>
                  <a:pt x="8172382" y="0"/>
                </a:lnTo>
                <a:lnTo>
                  <a:pt x="8172382" y="3256586"/>
                </a:lnTo>
                <a:lnTo>
                  <a:pt x="0" y="3256586"/>
                </a:lnTo>
                <a:lnTo>
                  <a:pt x="0" y="0"/>
                </a:lnTo>
                <a:close/>
              </a:path>
            </a:pathLst>
          </a:custGeom>
          <a:blipFill>
            <a:blip r:embed="rId12"/>
            <a:stretch>
              <a:fillRect l="0" t="0" r="0" b="0"/>
            </a:stretch>
          </a:blipFill>
        </p:spPr>
      </p:sp>
      <p:sp>
        <p:nvSpPr>
          <p:cNvPr name="TextBox 11" id="11"/>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2" id="12"/>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02</a:t>
            </a:r>
          </a:p>
        </p:txBody>
      </p:sp>
      <p:sp>
        <p:nvSpPr>
          <p:cNvPr name="TextBox 13" id="13"/>
          <p:cNvSpPr txBox="true"/>
          <p:nvPr/>
        </p:nvSpPr>
        <p:spPr>
          <a:xfrm rot="0">
            <a:off x="5195050" y="428175"/>
            <a:ext cx="7897900" cy="1725111"/>
          </a:xfrm>
          <a:prstGeom prst="rect">
            <a:avLst/>
          </a:prstGeom>
        </p:spPr>
        <p:txBody>
          <a:bodyPr anchor="t" rtlCol="false" tIns="0" lIns="0" bIns="0" rIns="0">
            <a:spAutoFit/>
          </a:bodyPr>
          <a:lstStyle/>
          <a:p>
            <a:pPr algn="l">
              <a:lnSpc>
                <a:spcPts val="6880"/>
              </a:lnSpc>
            </a:pPr>
            <a:r>
              <a:rPr lang="en-US" sz="5460">
                <a:solidFill>
                  <a:srgbClr val="FFFFFF"/>
                </a:solidFill>
                <a:latin typeface="HK Modular"/>
                <a:ea typeface="HK Modular"/>
                <a:cs typeface="HK Modular"/>
                <a:sym typeface="HK Modular"/>
              </a:rPr>
              <a:t>PULSO PI 50NS + 1000% RUÍDO</a:t>
            </a:r>
          </a:p>
        </p:txBody>
      </p:sp>
      <p:sp>
        <p:nvSpPr>
          <p:cNvPr name="TextBox 14" id="14"/>
          <p:cNvSpPr txBox="true"/>
          <p:nvPr/>
        </p:nvSpPr>
        <p:spPr>
          <a:xfrm rot="0">
            <a:off x="13296353" y="3929501"/>
            <a:ext cx="2254952"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Sinal do drive</a:t>
            </a:r>
          </a:p>
        </p:txBody>
      </p:sp>
      <p:sp>
        <p:nvSpPr>
          <p:cNvPr name="TextBox 15" id="15"/>
          <p:cNvSpPr txBox="true"/>
          <p:nvPr/>
        </p:nvSpPr>
        <p:spPr>
          <a:xfrm rot="0">
            <a:off x="13325130" y="7778562"/>
            <a:ext cx="2254952"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Oscilação de Rabi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Freeform 7" id="7"/>
          <p:cNvSpPr/>
          <p:nvPr/>
        </p:nvSpPr>
        <p:spPr>
          <a:xfrm flipH="false" flipV="false" rot="0">
            <a:off x="4505059" y="3587417"/>
            <a:ext cx="9665029" cy="6449211"/>
          </a:xfrm>
          <a:custGeom>
            <a:avLst/>
            <a:gdLst/>
            <a:ahLst/>
            <a:cxnLst/>
            <a:rect r="r" b="b" t="t" l="l"/>
            <a:pathLst>
              <a:path h="6449211" w="9665029">
                <a:moveTo>
                  <a:pt x="0" y="0"/>
                </a:moveTo>
                <a:lnTo>
                  <a:pt x="9665029" y="0"/>
                </a:lnTo>
                <a:lnTo>
                  <a:pt x="9665029" y="6449210"/>
                </a:lnTo>
                <a:lnTo>
                  <a:pt x="0" y="64492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564374" y="4539112"/>
            <a:ext cx="6011704" cy="4719188"/>
          </a:xfrm>
          <a:custGeom>
            <a:avLst/>
            <a:gdLst/>
            <a:ahLst/>
            <a:cxnLst/>
            <a:rect r="r" b="b" t="t" l="l"/>
            <a:pathLst>
              <a:path h="4719188" w="6011704">
                <a:moveTo>
                  <a:pt x="0" y="0"/>
                </a:moveTo>
                <a:lnTo>
                  <a:pt x="6011704" y="0"/>
                </a:lnTo>
                <a:lnTo>
                  <a:pt x="6011704" y="4719188"/>
                </a:lnTo>
                <a:lnTo>
                  <a:pt x="0" y="4719188"/>
                </a:lnTo>
                <a:lnTo>
                  <a:pt x="0" y="0"/>
                </a:lnTo>
                <a:close/>
              </a:path>
            </a:pathLst>
          </a:custGeom>
          <a:blipFill>
            <a:blip r:embed="rId10"/>
            <a:stretch>
              <a:fillRect l="0" t="0" r="0" b="0"/>
            </a:stretch>
          </a:blipFill>
        </p:spPr>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CONCLUSÃO:</a:t>
            </a:r>
          </a:p>
        </p:txBody>
      </p:sp>
      <p:sp>
        <p:nvSpPr>
          <p:cNvPr name="TextBox 11" id="11"/>
          <p:cNvSpPr txBox="true"/>
          <p:nvPr/>
        </p:nvSpPr>
        <p:spPr>
          <a:xfrm rot="0">
            <a:off x="4505059" y="1735335"/>
            <a:ext cx="10490675" cy="149965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O qubit é bem robusto contra ruído branco em razão do espectro desse ruído ser distribuído, na maior parte, longe da frequência de ressonancia de excitação do qubit (ou dos outros elementos como a cavidade)</a:t>
            </a:r>
          </a:p>
        </p:txBody>
      </p:sp>
      <p:sp>
        <p:nvSpPr>
          <p:cNvPr name="TextBox 12" id="12"/>
          <p:cNvSpPr txBox="true"/>
          <p:nvPr/>
        </p:nvSpPr>
        <p:spPr>
          <a:xfrm rot="0">
            <a:off x="6989598" y="3803571"/>
            <a:ext cx="5255327"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Filtro passa banda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869902" y="2390729"/>
            <a:ext cx="7494719" cy="4899673"/>
          </a:xfrm>
          <a:custGeom>
            <a:avLst/>
            <a:gdLst/>
            <a:ahLst/>
            <a:cxnLst/>
            <a:rect r="r" b="b" t="t" l="l"/>
            <a:pathLst>
              <a:path h="4899673" w="7494719">
                <a:moveTo>
                  <a:pt x="0" y="0"/>
                </a:moveTo>
                <a:lnTo>
                  <a:pt x="7494720" y="0"/>
                </a:lnTo>
                <a:lnTo>
                  <a:pt x="7494720" y="4899673"/>
                </a:lnTo>
                <a:lnTo>
                  <a:pt x="0" y="4899673"/>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RELAXAÇÃO (T1)</a:t>
            </a:r>
          </a:p>
        </p:txBody>
      </p:sp>
      <p:sp>
        <p:nvSpPr>
          <p:cNvPr name="TextBox 11" id="11"/>
          <p:cNvSpPr txBox="true"/>
          <p:nvPr/>
        </p:nvSpPr>
        <p:spPr>
          <a:xfrm rot="0">
            <a:off x="6989598" y="7813026"/>
            <a:ext cx="5255327"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O ruído branco não afeta diretamente a relaxação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165469" y="2680540"/>
            <a:ext cx="8903586" cy="5798460"/>
          </a:xfrm>
          <a:custGeom>
            <a:avLst/>
            <a:gdLst/>
            <a:ahLst/>
            <a:cxnLst/>
            <a:rect r="r" b="b" t="t" l="l"/>
            <a:pathLst>
              <a:path h="5798460" w="8903586">
                <a:moveTo>
                  <a:pt x="0" y="0"/>
                </a:moveTo>
                <a:lnTo>
                  <a:pt x="8903586" y="0"/>
                </a:lnTo>
                <a:lnTo>
                  <a:pt x="8903586" y="5798460"/>
                </a:lnTo>
                <a:lnTo>
                  <a:pt x="0" y="5798460"/>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RAMSEY T2*</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No noise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34979" y="2760888"/>
            <a:ext cx="8830834" cy="5637764"/>
          </a:xfrm>
          <a:custGeom>
            <a:avLst/>
            <a:gdLst/>
            <a:ahLst/>
            <a:cxnLst/>
            <a:rect r="r" b="b" t="t" l="l"/>
            <a:pathLst>
              <a:path h="5637764" w="8830834">
                <a:moveTo>
                  <a:pt x="0" y="0"/>
                </a:moveTo>
                <a:lnTo>
                  <a:pt x="8830834" y="0"/>
                </a:lnTo>
                <a:lnTo>
                  <a:pt x="8830834" y="5637764"/>
                </a:lnTo>
                <a:lnTo>
                  <a:pt x="0" y="5637764"/>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RAMSEY T2*</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50% Ed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32357" y="2674909"/>
            <a:ext cx="8836078" cy="5809722"/>
          </a:xfrm>
          <a:custGeom>
            <a:avLst/>
            <a:gdLst/>
            <a:ahLst/>
            <a:cxnLst/>
            <a:rect r="r" b="b" t="t" l="l"/>
            <a:pathLst>
              <a:path h="5809722" w="8836078">
                <a:moveTo>
                  <a:pt x="0" y="0"/>
                </a:moveTo>
                <a:lnTo>
                  <a:pt x="8836078" y="0"/>
                </a:lnTo>
                <a:lnTo>
                  <a:pt x="8836078" y="5809722"/>
                </a:lnTo>
                <a:lnTo>
                  <a:pt x="0" y="580972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HAHN ECHO T2ECHO</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No noise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161185" y="2771744"/>
            <a:ext cx="8912154" cy="5616051"/>
          </a:xfrm>
          <a:custGeom>
            <a:avLst/>
            <a:gdLst/>
            <a:ahLst/>
            <a:cxnLst/>
            <a:rect r="r" b="b" t="t" l="l"/>
            <a:pathLst>
              <a:path h="5616051" w="8912154">
                <a:moveTo>
                  <a:pt x="0" y="0"/>
                </a:moveTo>
                <a:lnTo>
                  <a:pt x="8912154" y="0"/>
                </a:lnTo>
                <a:lnTo>
                  <a:pt x="8912154" y="5616052"/>
                </a:lnTo>
                <a:lnTo>
                  <a:pt x="0" y="561605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HAHN ECHO T2ECHO</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15% Ed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200352" y="2775383"/>
            <a:ext cx="8833819" cy="5608774"/>
          </a:xfrm>
          <a:custGeom>
            <a:avLst/>
            <a:gdLst/>
            <a:ahLst/>
            <a:cxnLst/>
            <a:rect r="r" b="b" t="t" l="l"/>
            <a:pathLst>
              <a:path h="5608774" w="8833819">
                <a:moveTo>
                  <a:pt x="0" y="0"/>
                </a:moveTo>
                <a:lnTo>
                  <a:pt x="8833819" y="0"/>
                </a:lnTo>
                <a:lnTo>
                  <a:pt x="8833819" y="5608774"/>
                </a:lnTo>
                <a:lnTo>
                  <a:pt x="0" y="5608774"/>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HAHN ECHO T2ECHO</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50% 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Freeform 7" id="7"/>
          <p:cNvSpPr/>
          <p:nvPr/>
        </p:nvSpPr>
        <p:spPr>
          <a:xfrm flipH="false" flipV="false" rot="0">
            <a:off x="4505059" y="3587417"/>
            <a:ext cx="9665029" cy="6449211"/>
          </a:xfrm>
          <a:custGeom>
            <a:avLst/>
            <a:gdLst/>
            <a:ahLst/>
            <a:cxnLst/>
            <a:rect r="r" b="b" t="t" l="l"/>
            <a:pathLst>
              <a:path h="6449211" w="9665029">
                <a:moveTo>
                  <a:pt x="0" y="0"/>
                </a:moveTo>
                <a:lnTo>
                  <a:pt x="9665029" y="0"/>
                </a:lnTo>
                <a:lnTo>
                  <a:pt x="9665029" y="6449210"/>
                </a:lnTo>
                <a:lnTo>
                  <a:pt x="0" y="64492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665133" y="4309925"/>
            <a:ext cx="5904257" cy="4753857"/>
          </a:xfrm>
          <a:custGeom>
            <a:avLst/>
            <a:gdLst/>
            <a:ahLst/>
            <a:cxnLst/>
            <a:rect r="r" b="b" t="t" l="l"/>
            <a:pathLst>
              <a:path h="4753857" w="5904257">
                <a:moveTo>
                  <a:pt x="0" y="0"/>
                </a:moveTo>
                <a:lnTo>
                  <a:pt x="5904257" y="0"/>
                </a:lnTo>
                <a:lnTo>
                  <a:pt x="5904257" y="4753858"/>
                </a:lnTo>
                <a:lnTo>
                  <a:pt x="0" y="4753858"/>
                </a:lnTo>
                <a:lnTo>
                  <a:pt x="0" y="0"/>
                </a:lnTo>
                <a:close/>
              </a:path>
            </a:pathLst>
          </a:custGeom>
          <a:blipFill>
            <a:blip r:embed="rId10"/>
            <a:stretch>
              <a:fillRect l="0" t="0" r="0" b="0"/>
            </a:stretch>
          </a:blipFill>
        </p:spPr>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CONCLUSÃO:</a:t>
            </a:r>
          </a:p>
        </p:txBody>
      </p:sp>
      <p:sp>
        <p:nvSpPr>
          <p:cNvPr name="TextBox 11" id="11"/>
          <p:cNvSpPr txBox="true"/>
          <p:nvPr/>
        </p:nvSpPr>
        <p:spPr>
          <a:xfrm rot="0">
            <a:off x="4505059" y="1575605"/>
            <a:ext cx="10490675" cy="18711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Apesar da robustez que observamos anteriormente, os ruídos brancos em longos períodos de tempo nos intervalos das medidas de defasamento tem um efeito cumulativo muito mais significativo. Logo devemos buscar experimentos mais curtos para diminuir o efeito dos ruídos,  Porém...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693475" y="2534935"/>
            <a:ext cx="8113843" cy="6089671"/>
          </a:xfrm>
          <a:custGeom>
            <a:avLst/>
            <a:gdLst/>
            <a:ahLst/>
            <a:cxnLst/>
            <a:rect r="r" b="b" t="t" l="l"/>
            <a:pathLst>
              <a:path h="6089671" w="8113843">
                <a:moveTo>
                  <a:pt x="0" y="0"/>
                </a:moveTo>
                <a:lnTo>
                  <a:pt x="8113843" y="0"/>
                </a:lnTo>
                <a:lnTo>
                  <a:pt x="8113843" y="6089670"/>
                </a:lnTo>
                <a:lnTo>
                  <a:pt x="0" y="6089670"/>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5428859" y="2855989"/>
            <a:ext cx="4877288" cy="385232"/>
          </a:xfrm>
          <a:prstGeom prst="rect">
            <a:avLst/>
          </a:prstGeom>
        </p:spPr>
        <p:txBody>
          <a:bodyPr anchor="t" rtlCol="false" tIns="0" lIns="0" bIns="0" rIns="0">
            <a:spAutoFit/>
          </a:bodyPr>
          <a:lstStyle/>
          <a:p>
            <a:pPr algn="ctr">
              <a:lnSpc>
                <a:spcPts val="2999"/>
              </a:lnSpc>
              <a:spcBef>
                <a:spcPct val="0"/>
              </a:spcBef>
            </a:pPr>
          </a:p>
        </p:txBody>
      </p:sp>
      <p:sp>
        <p:nvSpPr>
          <p:cNvPr name="TextBox 12" id="12"/>
          <p:cNvSpPr txBox="true"/>
          <p:nvPr/>
        </p:nvSpPr>
        <p:spPr>
          <a:xfrm rot="0">
            <a:off x="4505059" y="1983977"/>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Rejeita banda ideal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250965" y="3501191"/>
            <a:ext cx="10732594" cy="4381344"/>
          </a:xfrm>
          <a:custGeom>
            <a:avLst/>
            <a:gdLst/>
            <a:ahLst/>
            <a:cxnLst/>
            <a:rect r="r" b="b" t="t" l="l"/>
            <a:pathLst>
              <a:path h="4381344" w="10732594">
                <a:moveTo>
                  <a:pt x="0" y="0"/>
                </a:moveTo>
                <a:lnTo>
                  <a:pt x="10732594" y="0"/>
                </a:lnTo>
                <a:lnTo>
                  <a:pt x="10732594" y="4381344"/>
                </a:lnTo>
                <a:lnTo>
                  <a:pt x="0" y="4381344"/>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pPr>
            <a:r>
              <a:rPr lang="en-US" sz="2777" b="true">
                <a:solidFill>
                  <a:srgbClr val="FFFFFF"/>
                </a:solidFill>
                <a:latin typeface="Raleway Bold"/>
                <a:ea typeface="Raleway Bold"/>
                <a:cs typeface="Raleway Bold"/>
                <a:sym typeface="Raleway Bold"/>
              </a:rPr>
              <a:t>Evolução do qubit a 2000% Ed com 1GHz de</a:t>
            </a:r>
          </a:p>
          <a:p>
            <a:pPr algn="ctr">
              <a:lnSpc>
                <a:spcPts val="2999"/>
              </a:lnSpc>
              <a:spcBef>
                <a:spcPct val="0"/>
              </a:spcBef>
            </a:pPr>
            <a:r>
              <a:rPr lang="en-US" b="true" sz="2777">
                <a:solidFill>
                  <a:srgbClr val="FFFFFF"/>
                </a:solidFill>
                <a:latin typeface="Raleway Bold"/>
                <a:ea typeface="Raleway Bold"/>
                <a:cs typeface="Raleway Bold"/>
                <a:sym typeface="Raleway Bold"/>
              </a:rPr>
              <a:t>banda filtrada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769949" y="2948494"/>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Modulação de amplitude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950678" y="3418667"/>
            <a:ext cx="7333169" cy="5401799"/>
          </a:xfrm>
          <a:custGeom>
            <a:avLst/>
            <a:gdLst/>
            <a:ahLst/>
            <a:cxnLst/>
            <a:rect r="r" b="b" t="t" l="l"/>
            <a:pathLst>
              <a:path h="5401799" w="7333169">
                <a:moveTo>
                  <a:pt x="0" y="0"/>
                </a:moveTo>
                <a:lnTo>
                  <a:pt x="7333168" y="0"/>
                </a:lnTo>
                <a:lnTo>
                  <a:pt x="7333168" y="5401799"/>
                </a:lnTo>
                <a:lnTo>
                  <a:pt x="0" y="5401799"/>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505059" y="3630644"/>
            <a:ext cx="10685028" cy="4557104"/>
          </a:xfrm>
          <a:custGeom>
            <a:avLst/>
            <a:gdLst/>
            <a:ahLst/>
            <a:cxnLst/>
            <a:rect r="r" b="b" t="t" l="l"/>
            <a:pathLst>
              <a:path h="4557104" w="10685028">
                <a:moveTo>
                  <a:pt x="0" y="0"/>
                </a:moveTo>
                <a:lnTo>
                  <a:pt x="10685028" y="0"/>
                </a:lnTo>
                <a:lnTo>
                  <a:pt x="10685028" y="4557104"/>
                </a:lnTo>
                <a:lnTo>
                  <a:pt x="0" y="4557104"/>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a:p>
            <a:pPr algn="ctr">
              <a:lnSpc>
                <a:spcPts val="2999"/>
              </a:lnSpc>
              <a:spcBef>
                <a:spcPct val="0"/>
              </a:spcBef>
            </a:pPr>
            <a:r>
              <a:rPr lang="en-US" b="true" sz="2777">
                <a:solidFill>
                  <a:srgbClr val="FFFFFF"/>
                </a:solidFill>
                <a:latin typeface="Raleway Bold"/>
                <a:ea typeface="Raleway Bold"/>
                <a:cs typeface="Raleway Bold"/>
                <a:sym typeface="Raleway Bold"/>
              </a:rPr>
              <a:t>2000% Ed</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256287" y="3398465"/>
            <a:ext cx="8988218" cy="5616051"/>
          </a:xfrm>
          <a:custGeom>
            <a:avLst/>
            <a:gdLst/>
            <a:ahLst/>
            <a:cxnLst/>
            <a:rect r="r" b="b" t="t" l="l"/>
            <a:pathLst>
              <a:path h="5616051" w="8988218">
                <a:moveTo>
                  <a:pt x="0" y="0"/>
                </a:moveTo>
                <a:lnTo>
                  <a:pt x="8988218" y="0"/>
                </a:lnTo>
                <a:lnTo>
                  <a:pt x="8988218" y="5616052"/>
                </a:lnTo>
                <a:lnTo>
                  <a:pt x="0" y="561605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a:p>
            <a:pPr algn="ctr">
              <a:lnSpc>
                <a:spcPts val="2999"/>
              </a:lnSpc>
              <a:spcBef>
                <a:spcPct val="0"/>
              </a:spcBef>
            </a:pPr>
            <a:r>
              <a:rPr lang="en-US" b="true" sz="2777">
                <a:solidFill>
                  <a:srgbClr val="FFFFFF"/>
                </a:solidFill>
                <a:latin typeface="Raleway Bold"/>
                <a:ea typeface="Raleway Bold"/>
                <a:cs typeface="Raleway Bold"/>
                <a:sym typeface="Raleway Bold"/>
              </a:rPr>
              <a:t>250% Ed</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45284" y="3175350"/>
            <a:ext cx="8543957" cy="5637764"/>
          </a:xfrm>
          <a:custGeom>
            <a:avLst/>
            <a:gdLst/>
            <a:ahLst/>
            <a:cxnLst/>
            <a:rect r="r" b="b" t="t" l="l"/>
            <a:pathLst>
              <a:path h="5637764" w="8543957">
                <a:moveTo>
                  <a:pt x="0" y="0"/>
                </a:moveTo>
                <a:lnTo>
                  <a:pt x="8543956" y="0"/>
                </a:lnTo>
                <a:lnTo>
                  <a:pt x="8543956" y="5637765"/>
                </a:lnTo>
                <a:lnTo>
                  <a:pt x="0" y="5637765"/>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40MHz</a:t>
            </a:r>
          </a:p>
          <a:p>
            <a:pPr algn="ctr">
              <a:lnSpc>
                <a:spcPts val="2999"/>
              </a:lnSpc>
              <a:spcBef>
                <a:spcPct val="0"/>
              </a:spcBef>
            </a:pPr>
            <a:r>
              <a:rPr lang="en-US" b="true" sz="2777">
                <a:solidFill>
                  <a:srgbClr val="FFFFFF"/>
                </a:solidFill>
                <a:latin typeface="Raleway Bold"/>
                <a:ea typeface="Raleway Bold"/>
                <a:cs typeface="Raleway Bold"/>
                <a:sym typeface="Raleway Bold"/>
              </a:rPr>
              <a:t>250% Ed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16147" y="3313966"/>
            <a:ext cx="8868498" cy="5611202"/>
          </a:xfrm>
          <a:custGeom>
            <a:avLst/>
            <a:gdLst/>
            <a:ahLst/>
            <a:cxnLst/>
            <a:rect r="r" b="b" t="t" l="l"/>
            <a:pathLst>
              <a:path h="5611202" w="8868498">
                <a:moveTo>
                  <a:pt x="0" y="0"/>
                </a:moveTo>
                <a:lnTo>
                  <a:pt x="8868498" y="0"/>
                </a:lnTo>
                <a:lnTo>
                  <a:pt x="8868498" y="5611202"/>
                </a:lnTo>
                <a:lnTo>
                  <a:pt x="0" y="561120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40MHz</a:t>
            </a:r>
          </a:p>
          <a:p>
            <a:pPr algn="ctr">
              <a:lnSpc>
                <a:spcPts val="2999"/>
              </a:lnSpc>
              <a:spcBef>
                <a:spcPct val="0"/>
              </a:spcBef>
            </a:pPr>
            <a:r>
              <a:rPr lang="en-US" b="true" sz="2777">
                <a:solidFill>
                  <a:srgbClr val="FFFFFF"/>
                </a:solidFill>
                <a:latin typeface="Raleway Bold"/>
                <a:ea typeface="Raleway Bold"/>
                <a:cs typeface="Raleway Bold"/>
                <a:sym typeface="Raleway Bold"/>
              </a:rPr>
              <a:t>250% Ed</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316147" y="3313966"/>
            <a:ext cx="8868498" cy="5611202"/>
          </a:xfrm>
          <a:custGeom>
            <a:avLst/>
            <a:gdLst/>
            <a:ahLst/>
            <a:cxnLst/>
            <a:rect r="r" b="b" t="t" l="l"/>
            <a:pathLst>
              <a:path h="5611202" w="8868498">
                <a:moveTo>
                  <a:pt x="0" y="0"/>
                </a:moveTo>
                <a:lnTo>
                  <a:pt x="8868498" y="0"/>
                </a:lnTo>
                <a:lnTo>
                  <a:pt x="8868498" y="5611202"/>
                </a:lnTo>
                <a:lnTo>
                  <a:pt x="0" y="561120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40MHz</a:t>
            </a:r>
          </a:p>
          <a:p>
            <a:pPr algn="ctr">
              <a:lnSpc>
                <a:spcPts val="2999"/>
              </a:lnSpc>
              <a:spcBef>
                <a:spcPct val="0"/>
              </a:spcBef>
            </a:pPr>
            <a:r>
              <a:rPr lang="en-US" b="true" sz="2777">
                <a:solidFill>
                  <a:srgbClr val="FFFFFF"/>
                </a:solidFill>
                <a:latin typeface="Raleway Bold"/>
                <a:ea typeface="Raleway Bold"/>
                <a:cs typeface="Raleway Bold"/>
                <a:sym typeface="Raleway Bold"/>
              </a:rPr>
              <a:t>250% Ed</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547030"/>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8" id="8"/>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9" id="9"/>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DEFASAMENTO T2?</a:t>
            </a:r>
          </a:p>
        </p:txBody>
      </p:sp>
      <p:pic>
        <p:nvPicPr>
          <p:cNvPr name="Picture 10" id="10"/>
          <p:cNvPicPr>
            <a:picLocks noChangeAspect="true"/>
          </p:cNvPicPr>
          <p:nvPr/>
        </p:nvPicPr>
        <p:blipFill>
          <a:blip r:embed="rId10"/>
          <a:stretch>
            <a:fillRect/>
          </a:stretch>
        </p:blipFill>
        <p:spPr>
          <a:xfrm rot="0">
            <a:off x="6800708" y="4086216"/>
            <a:ext cx="5633106" cy="2388547"/>
          </a:xfrm>
          <a:prstGeom prst="rect">
            <a:avLst/>
          </a:prstGeom>
        </p:spPr>
      </p:pic>
      <p:pic>
        <p:nvPicPr>
          <p:cNvPr name="Picture 11" id="11"/>
          <p:cNvPicPr>
            <a:picLocks noChangeAspect="true"/>
          </p:cNvPicPr>
          <p:nvPr/>
        </p:nvPicPr>
        <p:blipFill>
          <a:blip r:embed="rId11"/>
          <a:stretch>
            <a:fillRect/>
          </a:stretch>
        </p:blipFill>
        <p:spPr>
          <a:xfrm rot="0">
            <a:off x="7171804" y="2420572"/>
            <a:ext cx="4890918" cy="1733635"/>
          </a:xfrm>
          <a:prstGeom prst="rect">
            <a:avLst/>
          </a:prstGeom>
        </p:spPr>
      </p:pic>
      <p:sp>
        <p:nvSpPr>
          <p:cNvPr name="TextBox 12" id="12"/>
          <p:cNvSpPr txBox="true"/>
          <p:nvPr/>
        </p:nvSpPr>
        <p:spPr>
          <a:xfrm rot="0">
            <a:off x="4505059" y="3927660"/>
            <a:ext cx="10490675" cy="3852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Na simulação</a:t>
            </a:r>
          </a:p>
        </p:txBody>
      </p:sp>
      <p:pic>
        <p:nvPicPr>
          <p:cNvPr name="Picture 13" id="13"/>
          <p:cNvPicPr>
            <a:picLocks noChangeAspect="true"/>
          </p:cNvPicPr>
          <p:nvPr/>
        </p:nvPicPr>
        <p:blipFill>
          <a:blip r:embed="rId12"/>
          <a:stretch>
            <a:fillRect/>
          </a:stretch>
        </p:blipFill>
        <p:spPr>
          <a:xfrm rot="0">
            <a:off x="6558444" y="6122581"/>
            <a:ext cx="6383904" cy="2823958"/>
          </a:xfrm>
          <a:prstGeom prst="rect">
            <a:avLst/>
          </a:prstGeom>
        </p:spPr>
      </p:pic>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219473" y="3315180"/>
            <a:ext cx="8795577" cy="5608774"/>
          </a:xfrm>
          <a:custGeom>
            <a:avLst/>
            <a:gdLst/>
            <a:ahLst/>
            <a:cxnLst/>
            <a:rect r="r" b="b" t="t" l="l"/>
            <a:pathLst>
              <a:path h="5608774" w="8795577">
                <a:moveTo>
                  <a:pt x="0" y="0"/>
                </a:moveTo>
                <a:lnTo>
                  <a:pt x="8795578" y="0"/>
                </a:lnTo>
                <a:lnTo>
                  <a:pt x="8795578" y="5608774"/>
                </a:lnTo>
                <a:lnTo>
                  <a:pt x="0" y="5608774"/>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a:p>
            <a:pPr algn="ctr">
              <a:lnSpc>
                <a:spcPts val="2999"/>
              </a:lnSpc>
              <a:spcBef>
                <a:spcPct val="0"/>
              </a:spcBef>
            </a:pPr>
            <a:r>
              <a:rPr lang="en-US" b="true" sz="2777">
                <a:solidFill>
                  <a:srgbClr val="FFFFFF"/>
                </a:solidFill>
                <a:latin typeface="Raleway Bold"/>
                <a:ea typeface="Raleway Bold"/>
                <a:cs typeface="Raleway Bold"/>
                <a:sym typeface="Raleway Bold"/>
              </a:rPr>
              <a:t>100% Ed</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437023" y="3313966"/>
            <a:ext cx="8626746" cy="5611202"/>
          </a:xfrm>
          <a:custGeom>
            <a:avLst/>
            <a:gdLst/>
            <a:ahLst/>
            <a:cxnLst/>
            <a:rect r="r" b="b" t="t" l="l"/>
            <a:pathLst>
              <a:path h="5611202" w="8626746">
                <a:moveTo>
                  <a:pt x="0" y="0"/>
                </a:moveTo>
                <a:lnTo>
                  <a:pt x="8626746" y="0"/>
                </a:lnTo>
                <a:lnTo>
                  <a:pt x="8626746" y="5611202"/>
                </a:lnTo>
                <a:lnTo>
                  <a:pt x="0" y="5611202"/>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a:p>
            <a:pPr algn="ctr">
              <a:lnSpc>
                <a:spcPts val="2999"/>
              </a:lnSpc>
              <a:spcBef>
                <a:spcPct val="0"/>
              </a:spcBef>
            </a:pPr>
            <a:r>
              <a:rPr lang="en-US" b="true" sz="2777">
                <a:solidFill>
                  <a:srgbClr val="FFFFFF"/>
                </a:solidFill>
                <a:latin typeface="Raleway Bold"/>
                <a:ea typeface="Raleway Bold"/>
                <a:cs typeface="Raleway Bold"/>
                <a:sym typeface="Raleway Bold"/>
              </a:rPr>
              <a:t>150% Ed</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573645" y="1659122"/>
            <a:ext cx="12087233" cy="8065481"/>
          </a:xfrm>
          <a:custGeom>
            <a:avLst/>
            <a:gdLst/>
            <a:ahLst/>
            <a:cxnLst/>
            <a:rect r="r" b="b" t="t" l="l"/>
            <a:pathLst>
              <a:path h="8065481" w="12087233">
                <a:moveTo>
                  <a:pt x="0" y="0"/>
                </a:moveTo>
                <a:lnTo>
                  <a:pt x="12087233" y="0"/>
                </a:lnTo>
                <a:lnTo>
                  <a:pt x="12087233" y="8065481"/>
                </a:lnTo>
                <a:lnTo>
                  <a:pt x="0" y="8065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419440" y="3175350"/>
            <a:ext cx="8661913" cy="5623309"/>
          </a:xfrm>
          <a:custGeom>
            <a:avLst/>
            <a:gdLst/>
            <a:ahLst/>
            <a:cxnLst/>
            <a:rect r="r" b="b" t="t" l="l"/>
            <a:pathLst>
              <a:path h="5623309" w="8661913">
                <a:moveTo>
                  <a:pt x="0" y="0"/>
                </a:moveTo>
                <a:lnTo>
                  <a:pt x="8661913" y="0"/>
                </a:lnTo>
                <a:lnTo>
                  <a:pt x="8661913" y="5623309"/>
                </a:lnTo>
                <a:lnTo>
                  <a:pt x="0" y="5623309"/>
                </a:lnTo>
                <a:lnTo>
                  <a:pt x="0" y="0"/>
                </a:lnTo>
                <a:close/>
              </a:path>
            </a:pathLst>
          </a:custGeom>
          <a:blipFill>
            <a:blip r:embed="rId10"/>
            <a:stretch>
              <a:fillRect l="0" t="0" r="0" b="0"/>
            </a:stretch>
          </a:blipFill>
        </p:spPr>
      </p:sp>
      <p:sp>
        <p:nvSpPr>
          <p:cNvPr name="TextBox 8" id="8"/>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RUÍDO BRANCO FILTRADO</a:t>
            </a:r>
          </a:p>
        </p:txBody>
      </p:sp>
      <p:sp>
        <p:nvSpPr>
          <p:cNvPr name="TextBox 11" id="11"/>
          <p:cNvSpPr txBox="true"/>
          <p:nvPr/>
        </p:nvSpPr>
        <p:spPr>
          <a:xfrm rot="0">
            <a:off x="4505059" y="2418643"/>
            <a:ext cx="10490675" cy="756707"/>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Ruído branco com filtro passa banda de 100MHz</a:t>
            </a:r>
          </a:p>
          <a:p>
            <a:pPr algn="ctr">
              <a:lnSpc>
                <a:spcPts val="2999"/>
              </a:lnSpc>
              <a:spcBef>
                <a:spcPct val="0"/>
              </a:spcBef>
            </a:pPr>
            <a:r>
              <a:rPr lang="en-US" b="true" sz="2777">
                <a:solidFill>
                  <a:srgbClr val="FFFFFF"/>
                </a:solidFill>
                <a:latin typeface="Raleway Bold"/>
                <a:ea typeface="Raleway Bold"/>
                <a:cs typeface="Raleway Bold"/>
                <a:sym typeface="Raleway Bold"/>
              </a:rPr>
              <a:t>250% Ed</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3B616F">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04</a:t>
            </a:r>
          </a:p>
        </p:txBody>
      </p:sp>
      <p:sp>
        <p:nvSpPr>
          <p:cNvPr name="Freeform 7" id="7"/>
          <p:cNvSpPr/>
          <p:nvPr/>
        </p:nvSpPr>
        <p:spPr>
          <a:xfrm flipH="false" flipV="false" rot="0">
            <a:off x="4505059" y="3587417"/>
            <a:ext cx="9665029" cy="6449211"/>
          </a:xfrm>
          <a:custGeom>
            <a:avLst/>
            <a:gdLst/>
            <a:ahLst/>
            <a:cxnLst/>
            <a:rect r="r" b="b" t="t" l="l"/>
            <a:pathLst>
              <a:path h="6449211" w="9665029">
                <a:moveTo>
                  <a:pt x="0" y="0"/>
                </a:moveTo>
                <a:lnTo>
                  <a:pt x="9665029" y="0"/>
                </a:lnTo>
                <a:lnTo>
                  <a:pt x="9665029" y="6449210"/>
                </a:lnTo>
                <a:lnTo>
                  <a:pt x="0" y="64492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989548" y="4116208"/>
            <a:ext cx="5255428" cy="5255428"/>
          </a:xfrm>
          <a:custGeom>
            <a:avLst/>
            <a:gdLst/>
            <a:ahLst/>
            <a:cxnLst/>
            <a:rect r="r" b="b" t="t" l="l"/>
            <a:pathLst>
              <a:path h="5255428" w="5255428">
                <a:moveTo>
                  <a:pt x="0" y="0"/>
                </a:moveTo>
                <a:lnTo>
                  <a:pt x="5255428" y="0"/>
                </a:lnTo>
                <a:lnTo>
                  <a:pt x="5255428" y="5255428"/>
                </a:lnTo>
                <a:lnTo>
                  <a:pt x="0" y="5255428"/>
                </a:lnTo>
                <a:lnTo>
                  <a:pt x="0" y="0"/>
                </a:lnTo>
                <a:close/>
              </a:path>
            </a:pathLst>
          </a:custGeom>
          <a:blipFill>
            <a:blip r:embed="rId10"/>
            <a:stretch>
              <a:fillRect l="0" t="0" r="0" b="0"/>
            </a:stretch>
          </a:blipFill>
        </p:spPr>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2767796" y="633929"/>
            <a:ext cx="13698931" cy="863267"/>
          </a:xfrm>
          <a:prstGeom prst="rect">
            <a:avLst/>
          </a:prstGeom>
        </p:spPr>
        <p:txBody>
          <a:bodyPr anchor="t" rtlCol="false" tIns="0" lIns="0" bIns="0" rIns="0">
            <a:spAutoFit/>
          </a:bodyPr>
          <a:lstStyle/>
          <a:p>
            <a:pPr algn="ctr">
              <a:lnSpc>
                <a:spcPts val="6880"/>
              </a:lnSpc>
            </a:pPr>
            <a:r>
              <a:rPr lang="en-US" sz="5460">
                <a:solidFill>
                  <a:srgbClr val="FFFFFF"/>
                </a:solidFill>
                <a:latin typeface="HK Modular"/>
                <a:ea typeface="HK Modular"/>
                <a:cs typeface="HK Modular"/>
                <a:sym typeface="HK Modular"/>
              </a:rPr>
              <a:t>CONCLUSÃO:</a:t>
            </a:r>
          </a:p>
        </p:txBody>
      </p:sp>
      <p:sp>
        <p:nvSpPr>
          <p:cNvPr name="TextBox 11" id="11"/>
          <p:cNvSpPr txBox="true"/>
          <p:nvPr/>
        </p:nvSpPr>
        <p:spPr>
          <a:xfrm rot="0">
            <a:off x="2051778" y="1575605"/>
            <a:ext cx="14367913" cy="1871132"/>
          </a:xfrm>
          <a:prstGeom prst="rect">
            <a:avLst/>
          </a:prstGeom>
        </p:spPr>
        <p:txBody>
          <a:bodyPr anchor="t" rtlCol="false" tIns="0" lIns="0" bIns="0" rIns="0">
            <a:spAutoFit/>
          </a:bodyPr>
          <a:lstStyle/>
          <a:p>
            <a:pPr algn="ctr">
              <a:lnSpc>
                <a:spcPts val="2999"/>
              </a:lnSpc>
              <a:spcBef>
                <a:spcPct val="0"/>
              </a:spcBef>
            </a:pPr>
            <a:r>
              <a:rPr lang="en-US" b="true" sz="2777">
                <a:solidFill>
                  <a:srgbClr val="FFFFFF"/>
                </a:solidFill>
                <a:latin typeface="Raleway Bold"/>
                <a:ea typeface="Raleway Bold"/>
                <a:cs typeface="Raleway Bold"/>
                <a:sym typeface="Raleway Bold"/>
              </a:rPr>
              <a:t>Parece haver um indício de que o ruído pode causar defasamento no qubit porque há uma aparente tendência em que um ruído maior causa mais defasamento. O mesmo para medidas com Ramsey num grau menor. Mas como a simulação é feita com ruídos aleatórios é necessario um procedimento mais rigoroso para chegar há uma conclusão certa como médias de várias simulações.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C4D">
                <a:alpha val="100000"/>
              </a:srgbClr>
            </a:gs>
            <a:gs pos="100000">
              <a:srgbClr val="000000">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776071" y="1028700"/>
            <a:ext cx="551414" cy="518330"/>
          </a:xfrm>
          <a:custGeom>
            <a:avLst/>
            <a:gdLst/>
            <a:ahLst/>
            <a:cxnLst/>
            <a:rect r="r" b="b" t="t" l="l"/>
            <a:pathLst>
              <a:path h="518330" w="551414">
                <a:moveTo>
                  <a:pt x="0" y="0"/>
                </a:moveTo>
                <a:lnTo>
                  <a:pt x="551414" y="0"/>
                </a:lnTo>
                <a:lnTo>
                  <a:pt x="551414" y="518330"/>
                </a:lnTo>
                <a:lnTo>
                  <a:pt x="0" y="518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419691" y="1084613"/>
            <a:ext cx="839609" cy="450336"/>
          </a:xfrm>
          <a:custGeom>
            <a:avLst/>
            <a:gdLst/>
            <a:ahLst/>
            <a:cxnLst/>
            <a:rect r="r" b="b" t="t" l="l"/>
            <a:pathLst>
              <a:path h="450336" w="839609">
                <a:moveTo>
                  <a:pt x="0" y="0"/>
                </a:moveTo>
                <a:lnTo>
                  <a:pt x="839609" y="0"/>
                </a:lnTo>
                <a:lnTo>
                  <a:pt x="839609"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0083" y="1084613"/>
            <a:ext cx="839609" cy="450336"/>
          </a:xfrm>
          <a:custGeom>
            <a:avLst/>
            <a:gdLst/>
            <a:ahLst/>
            <a:cxnLst/>
            <a:rect r="r" b="b" t="t" l="l"/>
            <a:pathLst>
              <a:path h="450336" w="839609">
                <a:moveTo>
                  <a:pt x="0" y="0"/>
                </a:moveTo>
                <a:lnTo>
                  <a:pt x="839608" y="0"/>
                </a:lnTo>
                <a:lnTo>
                  <a:pt x="839608" y="450335"/>
                </a:lnTo>
                <a:lnTo>
                  <a:pt x="0" y="450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76071" y="9014517"/>
            <a:ext cx="2728988" cy="487567"/>
          </a:xfrm>
          <a:custGeom>
            <a:avLst/>
            <a:gdLst/>
            <a:ahLst/>
            <a:cxnLst/>
            <a:rect r="r" b="b" t="t" l="l"/>
            <a:pathLst>
              <a:path h="487567" w="2728988">
                <a:moveTo>
                  <a:pt x="0" y="0"/>
                </a:moveTo>
                <a:lnTo>
                  <a:pt x="2728988" y="0"/>
                </a:lnTo>
                <a:lnTo>
                  <a:pt x="2728988" y="487566"/>
                </a:lnTo>
                <a:lnTo>
                  <a:pt x="0" y="4875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7981853" y="9073308"/>
            <a:ext cx="2324294" cy="298328"/>
          </a:xfrm>
          <a:prstGeom prst="rect">
            <a:avLst/>
          </a:prstGeom>
        </p:spPr>
        <p:txBody>
          <a:bodyPr anchor="t" rtlCol="false" tIns="0" lIns="0" bIns="0" rIns="0">
            <a:spAutoFit/>
          </a:bodyPr>
          <a:lstStyle/>
          <a:p>
            <a:pPr algn="ctr">
              <a:lnSpc>
                <a:spcPts val="2241"/>
              </a:lnSpc>
              <a:spcBef>
                <a:spcPct val="0"/>
              </a:spcBef>
            </a:pPr>
            <a:r>
              <a:rPr lang="en-US" sz="2075">
                <a:solidFill>
                  <a:srgbClr val="FFFFFF"/>
                </a:solidFill>
                <a:latin typeface="Gruppo"/>
                <a:ea typeface="Gruppo"/>
                <a:cs typeface="Gruppo"/>
                <a:sym typeface="Gruppo"/>
              </a:rPr>
              <a:t>page 10</a:t>
            </a:r>
          </a:p>
        </p:txBody>
      </p:sp>
      <p:sp>
        <p:nvSpPr>
          <p:cNvPr name="Freeform 7" id="7"/>
          <p:cNvSpPr/>
          <p:nvPr/>
        </p:nvSpPr>
        <p:spPr>
          <a:xfrm flipH="false" flipV="false" rot="0">
            <a:off x="4505059" y="2895407"/>
            <a:ext cx="9474840" cy="6322302"/>
          </a:xfrm>
          <a:custGeom>
            <a:avLst/>
            <a:gdLst/>
            <a:ahLst/>
            <a:cxnLst/>
            <a:rect r="r" b="b" t="t" l="l"/>
            <a:pathLst>
              <a:path h="6322302" w="9474840">
                <a:moveTo>
                  <a:pt x="0" y="0"/>
                </a:moveTo>
                <a:lnTo>
                  <a:pt x="9474840" y="0"/>
                </a:lnTo>
                <a:lnTo>
                  <a:pt x="9474840" y="6322302"/>
                </a:lnTo>
                <a:lnTo>
                  <a:pt x="0" y="63223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262258" y="3647766"/>
            <a:ext cx="5960440" cy="4817583"/>
          </a:xfrm>
          <a:custGeom>
            <a:avLst/>
            <a:gdLst/>
            <a:ahLst/>
            <a:cxnLst/>
            <a:rect r="r" b="b" t="t" l="l"/>
            <a:pathLst>
              <a:path h="4817583" w="5960440">
                <a:moveTo>
                  <a:pt x="0" y="0"/>
                </a:moveTo>
                <a:lnTo>
                  <a:pt x="5960441" y="0"/>
                </a:lnTo>
                <a:lnTo>
                  <a:pt x="5960441" y="4817584"/>
                </a:lnTo>
                <a:lnTo>
                  <a:pt x="0" y="4817584"/>
                </a:lnTo>
                <a:lnTo>
                  <a:pt x="0" y="0"/>
                </a:lnTo>
                <a:close/>
              </a:path>
            </a:pathLst>
          </a:custGeom>
          <a:blipFill>
            <a:blip r:embed="rId10"/>
            <a:stretch>
              <a:fillRect l="0" t="0" r="0" b="0"/>
            </a:stretch>
          </a:blipFill>
        </p:spPr>
      </p:sp>
      <p:sp>
        <p:nvSpPr>
          <p:cNvPr name="TextBox 9" id="9"/>
          <p:cNvSpPr txBox="true"/>
          <p:nvPr/>
        </p:nvSpPr>
        <p:spPr>
          <a:xfrm rot="0">
            <a:off x="2655994" y="1165379"/>
            <a:ext cx="2324294" cy="298328"/>
          </a:xfrm>
          <a:prstGeom prst="rect">
            <a:avLst/>
          </a:prstGeom>
        </p:spPr>
        <p:txBody>
          <a:bodyPr anchor="t" rtlCol="false" tIns="0" lIns="0" bIns="0" rIns="0">
            <a:spAutoFit/>
          </a:bodyPr>
          <a:lstStyle/>
          <a:p>
            <a:pPr algn="l">
              <a:lnSpc>
                <a:spcPts val="2241"/>
              </a:lnSpc>
              <a:spcBef>
                <a:spcPct val="0"/>
              </a:spcBef>
            </a:pPr>
            <a:r>
              <a:rPr lang="en-US" sz="2075">
                <a:solidFill>
                  <a:srgbClr val="FFFFFF"/>
                </a:solidFill>
                <a:latin typeface="Gruppo"/>
                <a:ea typeface="Gruppo"/>
                <a:cs typeface="Gruppo"/>
                <a:sym typeface="Gruppo"/>
              </a:rPr>
              <a:t>studio shodwe</a:t>
            </a:r>
          </a:p>
        </p:txBody>
      </p:sp>
      <p:sp>
        <p:nvSpPr>
          <p:cNvPr name="TextBox 10" id="10"/>
          <p:cNvSpPr txBox="true"/>
          <p:nvPr/>
        </p:nvSpPr>
        <p:spPr>
          <a:xfrm rot="0">
            <a:off x="3818141" y="1221190"/>
            <a:ext cx="11183517" cy="1495220"/>
          </a:xfrm>
          <a:prstGeom prst="rect">
            <a:avLst/>
          </a:prstGeom>
        </p:spPr>
        <p:txBody>
          <a:bodyPr anchor="t" rtlCol="false" tIns="0" lIns="0" bIns="0" rIns="0">
            <a:spAutoFit/>
          </a:bodyPr>
          <a:lstStyle/>
          <a:p>
            <a:pPr algn="ctr">
              <a:lnSpc>
                <a:spcPts val="11911"/>
              </a:lnSpc>
            </a:pPr>
            <a:r>
              <a:rPr lang="en-US" sz="9453">
                <a:solidFill>
                  <a:srgbClr val="FFFFFF"/>
                </a:solidFill>
                <a:latin typeface="HK Modular"/>
                <a:ea typeface="HK Modular"/>
                <a:cs typeface="HK Modular"/>
                <a:sym typeface="HK Modular"/>
              </a:rPr>
              <a:t>OBRIGADO!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DAGl92OVKFk</dc:identifier>
  <dcterms:modified xsi:type="dcterms:W3CDTF">2011-08-01T06:04:30Z</dcterms:modified>
  <cp:revision>1</cp:revision>
  <dc:title>Green Blue Modern Future Technology Presentation</dc:title>
</cp:coreProperties>
</file>