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0625" cx="323992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08">
          <p15:clr>
            <a:srgbClr val="A4A3A4"/>
          </p15:clr>
        </p15:guide>
        <p15:guide id="2" pos="1813">
          <p15:clr>
            <a:srgbClr val="A4A3A4"/>
          </p15:clr>
        </p15:guide>
        <p15:guide id="3" pos="452">
          <p15:clr>
            <a:srgbClr val="A4A3A4"/>
          </p15:clr>
        </p15:guide>
        <p15:guide id="4" pos="19957">
          <p15:clr>
            <a:srgbClr val="A4A3A4"/>
          </p15:clr>
        </p15:guide>
        <p15:guide id="5" orient="horz" pos="452">
          <p15:clr>
            <a:srgbClr val="A4A3A4"/>
          </p15:clr>
        </p15:guide>
        <p15:guide id="6" orient="horz" pos="26761">
          <p15:clr>
            <a:srgbClr val="A4A3A4"/>
          </p15:clr>
        </p15:guide>
        <p15:guide id="7" pos="10431">
          <p15:clr>
            <a:srgbClr val="A4A3A4"/>
          </p15:clr>
        </p15:guide>
        <p15:guide id="8" pos="9978">
          <p15:clr>
            <a:srgbClr val="A4A3A4"/>
          </p15:clr>
        </p15:guide>
        <p15:guide id="9" orient="horz" pos="13607">
          <p15:clr>
            <a:srgbClr val="A4A3A4"/>
          </p15:clr>
        </p15:guide>
        <p15:guide id="10" pos="3174">
          <p15:clr>
            <a:srgbClr val="A4A3A4"/>
          </p15:clr>
        </p15:guide>
        <p15:guide id="11" orient="horz" pos="4739">
          <p15:clr>
            <a:srgbClr val="A4A3A4"/>
          </p15:clr>
        </p15:guide>
        <p15:guide id="12" pos="5215">
          <p15:clr>
            <a:srgbClr val="A4A3A4"/>
          </p15:clr>
        </p15:guide>
        <p15:guide id="13" pos="15194">
          <p15:clr>
            <a:srgbClr val="A4A3A4"/>
          </p15:clr>
        </p15:guide>
        <p15:guide id="14" pos="10204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jRX/ceTH1VyXpTb/C5mwcXJCAG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08" orient="horz"/>
        <p:guide pos="1813"/>
        <p:guide pos="452"/>
        <p:guide pos="19957"/>
        <p:guide pos="452" orient="horz"/>
        <p:guide pos="26761" orient="horz"/>
        <p:guide pos="10431"/>
        <p:guide pos="9978"/>
        <p:guide pos="13607" orient="horz"/>
        <p:guide pos="3174"/>
        <p:guide pos="4739" orient="horz"/>
        <p:guide pos="5215"/>
        <p:guide pos="15194"/>
        <p:guide pos="102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Calibri"/>
              <a:buNone/>
              <a:defRPr sz="2125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4049911" y="22690338"/>
            <a:ext cx="24299466" cy="1043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4"/>
            </a:lvl1pPr>
            <a:lvl2pPr lvl="1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sz="7086"/>
            </a:lvl2pPr>
            <a:lvl3pPr lvl="2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sz="6378"/>
            </a:lvl3pPr>
            <a:lvl4pPr lvl="3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4pPr>
            <a:lvl5pPr lvl="4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5pPr>
            <a:lvl6pPr lvl="5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6pPr>
            <a:lvl7pPr lvl="6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7pPr>
            <a:lvl8pPr lvl="7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8pPr>
            <a:lvl9pPr lvl="8" algn="ctr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210578" y="10770172"/>
            <a:ext cx="27944386" cy="17970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259"/>
              <a:buFont typeface="Calibri"/>
              <a:buNone/>
              <a:defRPr sz="2125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sz="8504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7086"/>
              <a:buNone/>
              <a:defRPr sz="7086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6378"/>
              <a:buNone/>
              <a:defRPr sz="6378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rgbClr val="888888"/>
              </a:buClr>
              <a:buSzPts val="5669"/>
              <a:buNone/>
              <a:defRPr sz="566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2227451" y="11500170"/>
            <a:ext cx="13769697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16402140" y="11500170"/>
            <a:ext cx="13769697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223167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b="1" sz="8504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b="1" sz="7086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b="1" sz="6378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2231675" y="15780233"/>
            <a:ext cx="13706415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16402142" y="10590160"/>
            <a:ext cx="13773917" cy="51900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8504"/>
              <a:buNone/>
              <a:defRPr b="1" sz="8504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None/>
              <a:defRPr b="1" sz="7086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None/>
              <a:defRPr b="1" sz="6378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b="1" sz="5669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16402142" y="15780233"/>
            <a:ext cx="13773917" cy="23210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Calibri"/>
              <a:buNone/>
              <a:defRPr sz="1133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948563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1338"/>
              <a:buChar char="•"/>
              <a:defRPr sz="11338"/>
            </a:lvl1pPr>
            <a:lvl2pPr indent="-858583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9921"/>
              <a:buChar char="•"/>
              <a:defRPr sz="9921"/>
            </a:lvl2pPr>
            <a:lvl3pPr indent="-768604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4"/>
              <a:buChar char="•"/>
              <a:defRPr sz="8504"/>
            </a:lvl3pPr>
            <a:lvl4pPr indent="-678561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4pPr>
            <a:lvl5pPr indent="-678561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5pPr>
            <a:lvl6pPr indent="-67856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6pPr>
            <a:lvl7pPr indent="-67856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7pPr>
            <a:lvl8pPr indent="-67856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8pPr>
            <a:lvl9pPr indent="-67856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Char char="•"/>
              <a:defRPr sz="7086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38"/>
              <a:buFont typeface="Calibri"/>
              <a:buNone/>
              <a:defRPr sz="1133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5669"/>
              <a:buNone/>
              <a:defRPr sz="5669"/>
            </a:lvl1pPr>
            <a:lvl2pPr indent="-2286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960"/>
              <a:buNone/>
              <a:defRPr sz="4960"/>
            </a:lvl2pPr>
            <a:lvl3pPr indent="-2286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4252"/>
              <a:buNone/>
              <a:defRPr sz="4252"/>
            </a:lvl3pPr>
            <a:lvl4pPr indent="-2286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4pPr>
            <a:lvl5pPr indent="-2286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5pPr>
            <a:lvl6pPr indent="-2286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6pPr>
            <a:lvl7pPr indent="-2286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7pPr>
            <a:lvl8pPr indent="-2286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8pPr>
            <a:lvl9pPr indent="-2286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3543"/>
              <a:buNone/>
              <a:defRPr sz="3543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2494440" y="11233181"/>
            <a:ext cx="27410408" cy="279443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8373518" y="17112258"/>
            <a:ext cx="36610544" cy="69860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-5801170" y="10328657"/>
            <a:ext cx="36610544" cy="205532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90"/>
              <a:buFont typeface="Calibri"/>
              <a:buNone/>
              <a:defRPr b="0" i="0" sz="1558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858583" lvl="0" marL="457200" marR="0" rtl="0" algn="l">
              <a:lnSpc>
                <a:spcPct val="90000"/>
              </a:lnSpc>
              <a:spcBef>
                <a:spcPts val="3543"/>
              </a:spcBef>
              <a:spcAft>
                <a:spcPts val="0"/>
              </a:spcAft>
              <a:buClr>
                <a:schemeClr val="dk1"/>
              </a:buClr>
              <a:buSzPts val="9921"/>
              <a:buFont typeface="Arial"/>
              <a:buChar char="•"/>
              <a:defRPr b="0" i="0" sz="992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768604" lvl="1" marL="914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8504"/>
              <a:buFont typeface="Arial"/>
              <a:buChar char="•"/>
              <a:defRPr b="0" i="0" sz="850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678561" lvl="2" marL="1371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7086"/>
              <a:buFont typeface="Arial"/>
              <a:buChar char="•"/>
              <a:defRPr b="0" i="0" sz="708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33603" lvl="3" marL="1828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33603" lvl="4" marL="22860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33603" lvl="5" marL="27432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33603" lvl="6" marL="32004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33603" lvl="7" marL="36576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33603" lvl="8" marL="4114800" marR="0" rtl="0" algn="l">
              <a:lnSpc>
                <a:spcPct val="90000"/>
              </a:lnSpc>
              <a:spcBef>
                <a:spcPts val="1772"/>
              </a:spcBef>
              <a:spcAft>
                <a:spcPts val="0"/>
              </a:spcAft>
              <a:buClr>
                <a:schemeClr val="dk1"/>
              </a:buClr>
              <a:buSzPts val="6378"/>
              <a:buFont typeface="Arial"/>
              <a:buChar char="•"/>
              <a:defRPr b="0" i="0" sz="637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2"/>
              <a:buFont typeface="Arial"/>
              <a:buNone/>
              <a:defRPr b="0" i="0" sz="4252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4.png"/><Relationship Id="rId13" Type="http://schemas.openxmlformats.org/officeDocument/2006/relationships/image" Target="../media/image11.pn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580671" y="995870"/>
            <a:ext cx="241011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5800"/>
              <a:t>Medição e simulação de qubits supercondutores do tipo Transmon em cavidade 3D: caracterização das energias do dispositivo e dos tempos característicos T₁ e T₂*</a:t>
            </a:r>
            <a:endParaRPr b="1" sz="58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58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t/>
            </a:r>
            <a:endParaRPr b="1" sz="5800"/>
          </a:p>
        </p:txBody>
      </p:sp>
      <p:sp>
        <p:nvSpPr>
          <p:cNvPr id="85" name="Google Shape;85;p1"/>
          <p:cNvSpPr txBox="1"/>
          <p:nvPr/>
        </p:nvSpPr>
        <p:spPr>
          <a:xfrm>
            <a:off x="7580671" y="3817115"/>
            <a:ext cx="241011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pt-BR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Aluno: Daniel Gonçalves Benvenutti </a:t>
            </a:r>
            <a:r>
              <a:rPr b="0" i="0" lang="pt-BR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(UNICAMP) </a:t>
            </a:r>
            <a:r>
              <a:rPr b="1" i="0" lang="pt-BR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Orientador: Francisco Rouxinol </a:t>
            </a:r>
            <a:r>
              <a:rPr b="0" i="0" lang="pt-BR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(UNICAMP) 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pt-BR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Representante</a:t>
            </a:r>
            <a:r>
              <a:rPr b="1" lang="pt-BR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Francisco Rouxinol </a:t>
            </a:r>
            <a:r>
              <a:rPr lang="pt-BR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(UNICAMP)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pt-BR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Financiamento: PIBIC/CNPq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1" lang="pt-BR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Palavras-Chave: Eletrodinâmica Quântica, Informação e Computação Quântica, Circuitos</a:t>
            </a:r>
            <a:r>
              <a:rPr b="1" i="1" lang="pt-BR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pt-BR" sz="4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Supercondutores</a:t>
            </a:r>
            <a:endParaRPr b="1" i="1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17525" y="29583501"/>
            <a:ext cx="15122400" cy="135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Caracterização Experimental</a:t>
            </a:r>
            <a:endParaRPr b="1"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Foram utilizadas três amostras de qubits transmon acoplados a cavidades 3D ressonantes, resfriadas em criostato de diluição. As medidas foram realizadas com analisador vetorial de redes (VNA) e setup pulsado com gerador de ondas arbitrárias (AWG) e com aquisição por placa Alazar.[1]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Procedimentos de Medida:</a:t>
            </a:r>
            <a:endParaRPr b="1"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3550" lvl="0" marL="45720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Punchout: identificação das frequências de ressonância da cavidade nos regimes vestido e nu.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3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Espectroscopia de Dois Tons: determinação da frequência de excitação do qubit e de sua anarmonicidade.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3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Rabi: medida pulsada a partir de cuja curva </a:t>
            </a:r>
            <a:r>
              <a:rPr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obtem-se</a:t>
            </a:r>
            <a:r>
              <a:rPr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largura de um pulso pi.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635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●"/>
            </a:pPr>
            <a:r>
              <a:rPr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T₁, T₂*, T₂</a:t>
            </a:r>
            <a:r>
              <a:rPr baseline="30000"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</a:t>
            </a:r>
            <a:r>
              <a:rPr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medidas pulsadas para extração dos tempos de coerência.</a:t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Automação e Código:</a:t>
            </a:r>
            <a:endParaRPr b="1"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Procedimentos implementados em Python via Jupyter Notebooks com controle de instrumentos pela API PyVISA. Foram desenvolvidas bibliotecas próprias de pulsos (e.g. GaussianCosPulse) e modularização de parâmetros experimentais.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6559213" y="10986397"/>
            <a:ext cx="15122400" cy="16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E DISCUSSÃO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Frequências Ressonantes: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frequências das cavidades e dos qubits foram obtidas via punchout e espectroscopia de dois tons. A anarmonicidade dos transmons foi verificada pela presença da transição de dois fótons (ω₀₂/2).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Parâmetros Extraídos: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Cavidades: 7.02-7.44 GHz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Qubits: 3.96-5.26 GHz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Anarmonicidade (α): 310-616 MHz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Constante de acoplamento: χ=525kHz, g=31.40MHz  de uma das amostras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Coerência Quântica: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tempos de relaxação (T₁) ficaram entre 3 e 8 μs. Os tempos de defasamento variaram de 2,5 a 5,7 μs, sendo T₂</a:t>
            </a:r>
            <a:r>
              <a:rPr baseline="30000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</a:t>
            </a: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T₂*, como previsto teoricamente.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Comparação com Medidas: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simulações reproduziram fielmente as curvas de Rabi, T₁, Ramsey e echo validando o modelo implementado.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Simulações com Ruído: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Ruído branco afeta pouco o qubit, mas é mais significativo em medidas T</a:t>
            </a:r>
            <a:r>
              <a:rPr baseline="-25000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Filtros digitais e modulação de amplitude e fase/</a:t>
            </a: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frequência</a:t>
            </a: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confirmaram que o ruído próximo à frequência do qubit é o mais prejudicial.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6559226" y="27253004"/>
            <a:ext cx="15122400" cy="74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caracterização experimental de qubits transmon em cavidades 3D permitiu extrair parâmetros essenciais para avaliar sua qualidade como sistemas de dois níveis, como os tempos T₁ e T₂. A boa concordância entre os dados experimentais e as simulações numéricas em QuTiP demonstra a eficácia do modelo adotado e valida os métodos de medição implementados. Os testes com ruído evidenciam a importância de controlar o espectro do drive e reforçam o papel de técnicas de engenharia de sinais na preservação da coerência quântica. A integração entre teoria, experimento e simulação mostrou-se fundamental para entender o comportamento realista dos qubits e aponta caminhos para otimização de circuitos supercondutores em aplicações de computação quântica. </a:t>
            </a: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 o github no QR Code para visualizar os arquivos do projeto.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717550" y="7586204"/>
            <a:ext cx="15122400" cy="9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qubits supercondutores surgem como fortes candidatos à implementação de computadores quânticos escaláveis devido à sua compatibilidade com técnicas de microfabricação e controle por micro-ondas. Dentre esses, o transmon, um oscilador não harmônico baseado em junções Josephson, oferece maior imunidade ao ruído de carga, sendo amplamente utilizado em experimentos de computação quântica. Neste trabalho, caracterizamos experimentalmente e por simulação qubits do tipo transmon acoplados a cavidades 3D, com o objetivo de extrair seus parâmetros energéticos e tempos característicos de relaxação (T₁) e defasamento (T₂*). Complementarmente, analisamos o impacto de ruídos de drive na coerência quântica, com simulações desenvolvidas na biblioteca QuTiP. A integração entre teoria, experimento e simulação permite uma visão abrangente do comportamento desses sistemas em regimes realistas, contribuindo para o avanço da engenharia de dispositivos quânticos.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717550" y="7200900"/>
            <a:ext cx="30964188" cy="0"/>
          </a:xfrm>
          <a:prstGeom prst="straightConnector1">
            <a:avLst/>
          </a:prstGeom>
          <a:noFill/>
          <a:ln cap="rnd" cmpd="sng" w="1016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1"/>
          <p:cNvSpPr txBox="1"/>
          <p:nvPr/>
        </p:nvSpPr>
        <p:spPr>
          <a:xfrm>
            <a:off x="16559277" y="34758203"/>
            <a:ext cx="151224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pt-BR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POSTER, Citada No. 1 </a:t>
            </a: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Naghiloo, M. Introduction to Experimental Quantum Measurement with Superconducting Qubits. http://arxiv.org/abs/1904.09291  (Apr. 2019)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"/>
          <p:cNvCxnSpPr/>
          <p:nvPr/>
        </p:nvCxnSpPr>
        <p:spPr>
          <a:xfrm>
            <a:off x="16559213" y="38995412"/>
            <a:ext cx="15122525" cy="0"/>
          </a:xfrm>
          <a:prstGeom prst="straightConnector1">
            <a:avLst/>
          </a:prstGeom>
          <a:noFill/>
          <a:ln cap="rnd" cmpd="sng" w="1016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3" name="Google Shape;93;p1"/>
          <p:cNvSpPr txBox="1"/>
          <p:nvPr/>
        </p:nvSpPr>
        <p:spPr>
          <a:xfrm>
            <a:off x="16198850" y="39262113"/>
            <a:ext cx="1512252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pt-BR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APOIO/AGRADECIMENTOS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62512" y="39534576"/>
            <a:ext cx="2618050" cy="261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ção gerada automaticamente" id="95" name="Google Shape;9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03126" y="40544494"/>
            <a:ext cx="4086226" cy="12581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a&#10;&#10;Descrição gerada automaticamente com confiança baixa" id="96" name="Google Shape;9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604213" y="40277777"/>
            <a:ext cx="2127257" cy="21272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"/>
          <p:cNvGrpSpPr/>
          <p:nvPr/>
        </p:nvGrpSpPr>
        <p:grpSpPr>
          <a:xfrm>
            <a:off x="320800" y="20556325"/>
            <a:ext cx="14870425" cy="7688725"/>
            <a:chOff x="685114" y="17846725"/>
            <a:chExt cx="14870425" cy="7688725"/>
          </a:xfrm>
        </p:grpSpPr>
        <p:sp>
          <p:nvSpPr>
            <p:cNvPr id="98" name="Google Shape;98;p1"/>
            <p:cNvSpPr txBox="1"/>
            <p:nvPr/>
          </p:nvSpPr>
          <p:spPr>
            <a:xfrm>
              <a:off x="1081857" y="18615369"/>
              <a:ext cx="82992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1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Figura 1: </a:t>
              </a:r>
              <a:r>
                <a:rPr i="1" lang="pt-B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Oscilação de Rabi. Essa é uma medida pulsada para determinar o pulso pi</a:t>
              </a:r>
              <a:endParaRPr b="0" i="1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9922439" y="17846725"/>
              <a:ext cx="5633100" cy="13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1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Figura 2: </a:t>
              </a:r>
              <a:r>
                <a:rPr i="1" lang="pt-B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Mapa de Ramsey experimental. Medida que caracteriza T2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6300577" y="24352850"/>
              <a:ext cx="47613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1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Figura 4: Decaimento de relaxaç</a:t>
              </a:r>
              <a:r>
                <a:rPr i="1" lang="pt-B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ão que caracteriza T1</a:t>
              </a:r>
              <a:r>
                <a:rPr b="0" i="1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685114" y="24581150"/>
              <a:ext cx="51147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1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Figura 3: </a:t>
              </a:r>
              <a:r>
                <a:rPr i="1" lang="pt-B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Mapa de Ramsey simulado</a:t>
              </a:r>
              <a:r>
                <a:rPr b="0" i="1" lang="pt-BR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"/>
          <p:cNvSpPr txBox="1"/>
          <p:nvPr/>
        </p:nvSpPr>
        <p:spPr>
          <a:xfrm>
            <a:off x="17065700" y="7738604"/>
            <a:ext cx="151224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Simulações com QuTiP: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Simulamos Rabi, T₁, Ramsey e T₂</a:t>
            </a:r>
            <a:r>
              <a:rPr baseline="30000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</a:t>
            </a:r>
            <a:r>
              <a:rPr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 Hamiltonianos no referencial do laboratório, incluindo efeitos de ruído branco, rosa e marrom no drive com e sem modulação. Também foram testadas estratégias de filtragem espectral para mitigação dos efeitos ruidosos.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0937538" y="26640975"/>
            <a:ext cx="4761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pt-BR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5: </a:t>
            </a:r>
            <a:r>
              <a:rPr i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Oscilação de Ramsey. (fatia do mapa da figura 2) cujo envelope </a:t>
            </a:r>
            <a:r>
              <a:rPr i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exponencial</a:t>
            </a:r>
            <a:r>
              <a:rPr i="1"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caracteriza T2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09550" y="16206213"/>
            <a:ext cx="5781675" cy="43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13313" y="16744600"/>
            <a:ext cx="5467350" cy="43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0788" y="22593200"/>
            <a:ext cx="5467350" cy="437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659375" y="22593205"/>
            <a:ext cx="4864124" cy="3971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9033272" y="40194504"/>
            <a:ext cx="2618050" cy="261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 txBox="1"/>
          <p:nvPr/>
        </p:nvSpPr>
        <p:spPr>
          <a:xfrm>
            <a:off x="29221038" y="39309638"/>
            <a:ext cx="22425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url: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98075" y="22615009"/>
            <a:ext cx="4761300" cy="3928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7550" y="1355229"/>
            <a:ext cx="6557690" cy="43903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nome da empresa&#10;&#10;Descrição gerada automaticamente" id="112" name="Google Shape;11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3845053" y="40544507"/>
            <a:ext cx="2303461" cy="1655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2022-09-20T18:11:25Z</dcterms:created>
  <dc:creator>Marcos Yakuwa Mekaru</dc:creator>
</cp:coreProperties>
</file>